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handoutMasterIdLst>
    <p:handoutMasterId r:id="rId7"/>
  </p:handoutMasterIdLst>
  <p:sldIdLst>
    <p:sldId id="256" r:id="rId2"/>
    <p:sldId id="257" r:id="rId3"/>
    <p:sldId id="271" r:id="rId4"/>
    <p:sldId id="282" r:id="rId5"/>
  </p:sldIdLst>
  <p:sldSz cx="6858000" cy="9144000" type="letter"/>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ufflebeam, Kirk A" initials="SKA" lastIdx="0" clrIdx="0">
    <p:extLst>
      <p:ext uri="{19B8F6BF-5375-455C-9EA6-DF929625EA0E}">
        <p15:presenceInfo xmlns:p15="http://schemas.microsoft.com/office/powerpoint/2012/main" userId="S-1-5-21-2712364114-1771505960-1880542305-158921" providerId="AD"/>
      </p:ext>
    </p:extLst>
  </p:cmAuthor>
  <p:cmAuthor id="2" name="Earl" initials="NECL" lastIdx="0" clrIdx="1">
    <p:extLst>
      <p:ext uri="{19B8F6BF-5375-455C-9EA6-DF929625EA0E}">
        <p15:presenceInfo xmlns:p15="http://schemas.microsoft.com/office/powerpoint/2012/main" userId="Ear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C93E8"/>
    <a:srgbClr val="223C5E"/>
    <a:srgbClr val="203A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3" autoAdjust="0"/>
    <p:restoredTop sz="94660"/>
  </p:normalViewPr>
  <p:slideViewPr>
    <p:cSldViewPr snapToGrid="0">
      <p:cViewPr>
        <p:scale>
          <a:sx n="75" d="100"/>
          <a:sy n="75" d="100"/>
        </p:scale>
        <p:origin x="2021" y="24"/>
      </p:cViewPr>
      <p:guideLst/>
    </p:cSldViewPr>
  </p:slideViewPr>
  <p:notesTextViewPr>
    <p:cViewPr>
      <p:scale>
        <a:sx n="3" d="2"/>
        <a:sy n="3" d="2"/>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DC7E71-F44F-46E9-B1AD-37AF04E098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09A4A5A9-D0DC-40FA-96BB-51DCCD0C6B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ACE71D-47C8-4754-8C5A-10560BF6E5C2}" type="datetimeFigureOut">
              <a:rPr lang="en-PH" smtClean="0"/>
              <a:t>18/05/2022</a:t>
            </a:fld>
            <a:endParaRPr lang="en-PH"/>
          </a:p>
        </p:txBody>
      </p:sp>
      <p:sp>
        <p:nvSpPr>
          <p:cNvPr id="4" name="Footer Placeholder 3">
            <a:extLst>
              <a:ext uri="{FF2B5EF4-FFF2-40B4-BE49-F238E27FC236}">
                <a16:creationId xmlns:a16="http://schemas.microsoft.com/office/drawing/2014/main" id="{40C66364-AA33-442C-8B96-3106AF0172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750FAB56-AB63-40F3-9594-8CA7657DBB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21116A-37F6-4EF4-BF02-761B039603DC}" type="slidenum">
              <a:rPr lang="en-PH" smtClean="0"/>
              <a:t>‹#›</a:t>
            </a:fld>
            <a:endParaRPr lang="en-PH"/>
          </a:p>
        </p:txBody>
      </p:sp>
    </p:spTree>
    <p:extLst>
      <p:ext uri="{BB962C8B-B14F-4D97-AF65-F5344CB8AC3E}">
        <p14:creationId xmlns:p14="http://schemas.microsoft.com/office/powerpoint/2010/main" val="2639998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1C460-4BDA-415B-912B-33276D614375}" type="datetimeFigureOut">
              <a:rPr lang="en-PH" smtClean="0"/>
              <a:t>18/05/2022</a:t>
            </a:fld>
            <a:endParaRPr lang="en-PH"/>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76369-D26B-4539-BA8E-F212291F6313}" type="slidenum">
              <a:rPr lang="en-PH" smtClean="0"/>
              <a:t>‹#›</a:t>
            </a:fld>
            <a:endParaRPr lang="en-PH"/>
          </a:p>
        </p:txBody>
      </p:sp>
    </p:spTree>
    <p:extLst>
      <p:ext uri="{BB962C8B-B14F-4D97-AF65-F5344CB8AC3E}">
        <p14:creationId xmlns:p14="http://schemas.microsoft.com/office/powerpoint/2010/main" val="38464886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FA69BC2-487B-4485-B78D-359A93BB25B1}"/>
              </a:ext>
            </a:extLst>
          </p:cNvPr>
          <p:cNvSpPr/>
          <p:nvPr userDrawn="1"/>
        </p:nvSpPr>
        <p:spPr>
          <a:xfrm flipH="1">
            <a:off x="0" y="1748752"/>
            <a:ext cx="6872068" cy="6874743"/>
          </a:xfrm>
          <a:prstGeom prst="rect">
            <a:avLst/>
          </a:prstGeom>
          <a:pattFill prst="pct20">
            <a:fgClr>
              <a:schemeClr val="accent3">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Parallelogram 18">
            <a:extLst>
              <a:ext uri="{FF2B5EF4-FFF2-40B4-BE49-F238E27FC236}">
                <a16:creationId xmlns:a16="http://schemas.microsoft.com/office/drawing/2014/main" id="{1329F5C9-9F49-4A11-9319-90D9D1ABE6B0}"/>
              </a:ext>
            </a:extLst>
          </p:cNvPr>
          <p:cNvSpPr/>
          <p:nvPr userDrawn="1"/>
        </p:nvSpPr>
        <p:spPr>
          <a:xfrm flipH="1">
            <a:off x="-822636" y="8244726"/>
            <a:ext cx="3784159" cy="1567543"/>
          </a:xfrm>
          <a:prstGeom prst="parallelogram">
            <a:avLst>
              <a:gd name="adj" fmla="val 7129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Rectangle 23">
            <a:extLst>
              <a:ext uri="{FF2B5EF4-FFF2-40B4-BE49-F238E27FC236}">
                <a16:creationId xmlns:a16="http://schemas.microsoft.com/office/drawing/2014/main" id="{2A893314-C253-4489-A982-57C8A1347789}"/>
              </a:ext>
            </a:extLst>
          </p:cNvPr>
          <p:cNvSpPr/>
          <p:nvPr userDrawn="1"/>
        </p:nvSpPr>
        <p:spPr>
          <a:xfrm flipH="1">
            <a:off x="0" y="8474831"/>
            <a:ext cx="6872068" cy="669169"/>
          </a:xfrm>
          <a:prstGeom prst="rect">
            <a:avLst/>
          </a:prstGeom>
          <a:gradFill>
            <a:gsLst>
              <a:gs pos="0">
                <a:schemeClr val="accent3">
                  <a:lumMod val="50000"/>
                </a:schemeClr>
              </a:gs>
              <a:gs pos="50000">
                <a:schemeClr val="accent3">
                  <a:lumMod val="75000"/>
                </a:schemeClr>
              </a:gs>
              <a:gs pos="100000">
                <a:schemeClr val="accent3">
                  <a:lumMod val="40000"/>
                  <a:lumOff val="6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8" name="Picture 27">
            <a:extLst>
              <a:ext uri="{FF2B5EF4-FFF2-40B4-BE49-F238E27FC236}">
                <a16:creationId xmlns:a16="http://schemas.microsoft.com/office/drawing/2014/main" id="{48C67118-D104-4189-A3A6-BFA460F7B567}"/>
              </a:ext>
            </a:extLst>
          </p:cNvPr>
          <p:cNvPicPr>
            <a:picLocks noChangeAspect="1"/>
          </p:cNvPicPr>
          <p:nvPr userDrawn="1"/>
        </p:nvPicPr>
        <p:blipFill>
          <a:blip r:embed="rId3">
            <a:alphaModFix amt="64000"/>
            <a:extLst>
              <a:ext uri="{28A0092B-C50C-407E-A947-70E740481C1C}">
                <a14:useLocalDpi xmlns:a14="http://schemas.microsoft.com/office/drawing/2010/main" val="0"/>
              </a:ext>
            </a:extLst>
          </a:blip>
          <a:stretch>
            <a:fillRect/>
          </a:stretch>
        </p:blipFill>
        <p:spPr>
          <a:xfrm>
            <a:off x="5" y="8474832"/>
            <a:ext cx="6872063" cy="669168"/>
          </a:xfrm>
          <a:prstGeom prst="rect">
            <a:avLst/>
          </a:prstGeom>
        </p:spPr>
      </p:pic>
      <p:sp>
        <p:nvSpPr>
          <p:cNvPr id="25" name="Parallelogram 24">
            <a:extLst>
              <a:ext uri="{FF2B5EF4-FFF2-40B4-BE49-F238E27FC236}">
                <a16:creationId xmlns:a16="http://schemas.microsoft.com/office/drawing/2014/main" id="{3F96F50E-B6CD-433C-A4D1-D8EEDFB6CDBD}"/>
              </a:ext>
            </a:extLst>
          </p:cNvPr>
          <p:cNvSpPr/>
          <p:nvPr userDrawn="1"/>
        </p:nvSpPr>
        <p:spPr>
          <a:xfrm rot="20549740" flipH="1">
            <a:off x="2983314" y="990045"/>
            <a:ext cx="4596587" cy="1567543"/>
          </a:xfrm>
          <a:prstGeom prst="parallelogram">
            <a:avLst>
              <a:gd name="adj" fmla="val 7129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21" name="Group 20">
            <a:extLst>
              <a:ext uri="{FF2B5EF4-FFF2-40B4-BE49-F238E27FC236}">
                <a16:creationId xmlns:a16="http://schemas.microsoft.com/office/drawing/2014/main" id="{A60B9B0A-B1B5-466F-9367-E00D7849BD45}"/>
              </a:ext>
            </a:extLst>
          </p:cNvPr>
          <p:cNvGrpSpPr/>
          <p:nvPr userDrawn="1"/>
        </p:nvGrpSpPr>
        <p:grpSpPr>
          <a:xfrm>
            <a:off x="0" y="-18510"/>
            <a:ext cx="6864210" cy="4019548"/>
            <a:chOff x="0" y="-34895"/>
            <a:chExt cx="6864210" cy="4019548"/>
          </a:xfrm>
        </p:grpSpPr>
        <p:pic>
          <p:nvPicPr>
            <p:cNvPr id="22" name="Picture 21" descr="A picture containing text, indoor, clock&#10;&#10;Description automatically generated">
              <a:extLst>
                <a:ext uri="{FF2B5EF4-FFF2-40B4-BE49-F238E27FC236}">
                  <a16:creationId xmlns:a16="http://schemas.microsoft.com/office/drawing/2014/main" id="{3375A6BA-17DF-4577-9A00-24C749B826A1}"/>
                </a:ext>
              </a:extLst>
            </p:cNvPr>
            <p:cNvPicPr>
              <a:picLocks noChangeAspect="1"/>
            </p:cNvPicPr>
            <p:nvPr userDrawn="1"/>
          </p:nvPicPr>
          <p:blipFill>
            <a:blip r:embed="rId4">
              <a:extLst>
                <a:ext uri="{28A0092B-C50C-407E-A947-70E740481C1C}">
                  <a14:useLocalDpi xmlns:a14="http://schemas.microsoft.com/office/drawing/2010/main" val="0"/>
                </a:ext>
              </a:extLst>
            </a:blip>
            <a:srcRect r="15979" b="18540"/>
            <a:stretch>
              <a:fillRect/>
            </a:stretch>
          </p:blipFill>
          <p:spPr>
            <a:xfrm>
              <a:off x="0" y="-5867"/>
              <a:ext cx="6858000" cy="3989410"/>
            </a:xfrm>
            <a:custGeom>
              <a:avLst/>
              <a:gdLst>
                <a:gd name="connsiteX0" fmla="*/ 0 w 6858000"/>
                <a:gd name="connsiteY0" fmla="*/ 0 h 3989410"/>
                <a:gd name="connsiteX1" fmla="*/ 6858000 w 6858000"/>
                <a:gd name="connsiteY1" fmla="*/ 0 h 3989410"/>
                <a:gd name="connsiteX2" fmla="*/ 6858000 w 6858000"/>
                <a:gd name="connsiteY2" fmla="*/ 1862659 h 3989410"/>
                <a:gd name="connsiteX3" fmla="*/ 0 w 6858000"/>
                <a:gd name="connsiteY3" fmla="*/ 3989410 h 3989410"/>
              </a:gdLst>
              <a:ahLst/>
              <a:cxnLst>
                <a:cxn ang="0">
                  <a:pos x="connsiteX0" y="connsiteY0"/>
                </a:cxn>
                <a:cxn ang="0">
                  <a:pos x="connsiteX1" y="connsiteY1"/>
                </a:cxn>
                <a:cxn ang="0">
                  <a:pos x="connsiteX2" y="connsiteY2"/>
                </a:cxn>
                <a:cxn ang="0">
                  <a:pos x="connsiteX3" y="connsiteY3"/>
                </a:cxn>
              </a:cxnLst>
              <a:rect l="l" t="t" r="r" b="b"/>
              <a:pathLst>
                <a:path w="6858000" h="3989410">
                  <a:moveTo>
                    <a:pt x="0" y="0"/>
                  </a:moveTo>
                  <a:lnTo>
                    <a:pt x="6858000" y="0"/>
                  </a:lnTo>
                  <a:lnTo>
                    <a:pt x="6858000" y="1862659"/>
                  </a:lnTo>
                  <a:lnTo>
                    <a:pt x="0" y="3989410"/>
                  </a:lnTo>
                  <a:close/>
                </a:path>
              </a:pathLst>
            </a:custGeom>
          </p:spPr>
        </p:pic>
        <p:sp>
          <p:nvSpPr>
            <p:cNvPr id="23" name="Rectangle 11">
              <a:extLst>
                <a:ext uri="{FF2B5EF4-FFF2-40B4-BE49-F238E27FC236}">
                  <a16:creationId xmlns:a16="http://schemas.microsoft.com/office/drawing/2014/main" id="{5F62AA69-87CA-46A3-9258-51B34A1E9F19}"/>
                </a:ext>
              </a:extLst>
            </p:cNvPr>
            <p:cNvSpPr/>
            <p:nvPr userDrawn="1"/>
          </p:nvSpPr>
          <p:spPr>
            <a:xfrm>
              <a:off x="0" y="-34895"/>
              <a:ext cx="6864210" cy="4019548"/>
            </a:xfrm>
            <a:custGeom>
              <a:avLst/>
              <a:gdLst>
                <a:gd name="connsiteX0" fmla="*/ 0 w 6858000"/>
                <a:gd name="connsiteY0" fmla="*/ 0 h 4019548"/>
                <a:gd name="connsiteX1" fmla="*/ 6858000 w 6858000"/>
                <a:gd name="connsiteY1" fmla="*/ 0 h 4019548"/>
                <a:gd name="connsiteX2" fmla="*/ 6858000 w 6858000"/>
                <a:gd name="connsiteY2" fmla="*/ 1892797 h 4019548"/>
                <a:gd name="connsiteX3" fmla="*/ 0 w 6858000"/>
                <a:gd name="connsiteY3" fmla="*/ 4019548 h 4019548"/>
                <a:gd name="connsiteX4" fmla="*/ 0 w 6858000"/>
                <a:gd name="connsiteY4" fmla="*/ 0 h 4019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4019548">
                  <a:moveTo>
                    <a:pt x="0" y="0"/>
                  </a:moveTo>
                  <a:lnTo>
                    <a:pt x="6858000" y="0"/>
                  </a:lnTo>
                  <a:lnTo>
                    <a:pt x="6858000" y="1892797"/>
                  </a:lnTo>
                  <a:lnTo>
                    <a:pt x="0" y="4019548"/>
                  </a:lnTo>
                  <a:lnTo>
                    <a:pt x="0" y="0"/>
                  </a:lnTo>
                  <a:close/>
                </a:path>
              </a:pathLst>
            </a:custGeom>
            <a:gradFill flip="none" rotWithShape="1">
              <a:gsLst>
                <a:gs pos="0">
                  <a:schemeClr val="accent1">
                    <a:alpha val="85000"/>
                  </a:schemeClr>
                </a:gs>
                <a:gs pos="50000">
                  <a:schemeClr val="accent3">
                    <a:lumMod val="50000"/>
                    <a:alpha val="85000"/>
                  </a:schemeClr>
                </a:gs>
                <a:gs pos="100000">
                  <a:schemeClr val="accent3">
                    <a:alpha val="8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2" name="Title 1"/>
          <p:cNvSpPr>
            <a:spLocks noGrp="1"/>
          </p:cNvSpPr>
          <p:nvPr>
            <p:ph type="ctrTitle"/>
          </p:nvPr>
        </p:nvSpPr>
        <p:spPr>
          <a:xfrm>
            <a:off x="557779" y="3888704"/>
            <a:ext cx="5829300" cy="791247"/>
          </a:xfrm>
        </p:spPr>
        <p:txBody>
          <a:bodyPr anchor="b">
            <a:normAutofit/>
          </a:bodyPr>
          <a:lstStyle>
            <a:lvl1pPr algn="r">
              <a:defRPr sz="4000" b="0">
                <a:solidFill>
                  <a:srgbClr val="002060"/>
                </a:solidFill>
                <a:latin typeface="+mn-lt"/>
              </a:defRPr>
            </a:lvl1pPr>
          </a:lstStyle>
          <a:p>
            <a:r>
              <a:rPr lang="en-US"/>
              <a:t>Click to edit Master title</a:t>
            </a:r>
          </a:p>
        </p:txBody>
      </p:sp>
      <p:sp>
        <p:nvSpPr>
          <p:cNvPr id="3" name="Subtitle 2"/>
          <p:cNvSpPr>
            <a:spLocks noGrp="1"/>
          </p:cNvSpPr>
          <p:nvPr>
            <p:ph type="subTitle" idx="1"/>
          </p:nvPr>
        </p:nvSpPr>
        <p:spPr>
          <a:xfrm>
            <a:off x="1200149" y="4891503"/>
            <a:ext cx="5186363" cy="669169"/>
          </a:xfrm>
        </p:spPr>
        <p:txBody>
          <a:bodyPr>
            <a:normAutofit/>
          </a:bodyPr>
          <a:lstStyle>
            <a:lvl1pPr marL="0" indent="0" algn="r">
              <a:buNone/>
              <a:defRPr sz="2800" b="0">
                <a:solidFill>
                  <a:srgbClr val="002060"/>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6" name="Text Placeholder 15">
            <a:extLst>
              <a:ext uri="{FF2B5EF4-FFF2-40B4-BE49-F238E27FC236}">
                <a16:creationId xmlns:a16="http://schemas.microsoft.com/office/drawing/2014/main" id="{F6A75098-67CB-417F-8AA2-FD53A14E32BD}"/>
              </a:ext>
            </a:extLst>
          </p:cNvPr>
          <p:cNvSpPr>
            <a:spLocks noGrp="1"/>
          </p:cNvSpPr>
          <p:nvPr>
            <p:ph type="body" sz="quarter" idx="13"/>
          </p:nvPr>
        </p:nvSpPr>
        <p:spPr>
          <a:xfrm>
            <a:off x="1644423" y="5772224"/>
            <a:ext cx="4742089" cy="393479"/>
          </a:xfrm>
        </p:spPr>
        <p:txBody>
          <a:bodyPr anchor="ctr">
            <a:normAutofit/>
          </a:bodyPr>
          <a:lstStyle>
            <a:lvl1pPr marL="0" indent="0" algn="r">
              <a:buNone/>
              <a:defRPr sz="2000">
                <a:solidFill>
                  <a:srgbClr val="002060"/>
                </a:solidFill>
                <a:latin typeface="+mn-lt"/>
              </a:defRPr>
            </a:lvl1pPr>
          </a:lstStyle>
          <a:p>
            <a:pPr lvl="0"/>
            <a:r>
              <a:rPr lang="en-US"/>
              <a:t>Click to edit Master text styles</a:t>
            </a:r>
          </a:p>
        </p:txBody>
      </p:sp>
      <p:sp>
        <p:nvSpPr>
          <p:cNvPr id="18" name="Text Placeholder 17">
            <a:extLst>
              <a:ext uri="{FF2B5EF4-FFF2-40B4-BE49-F238E27FC236}">
                <a16:creationId xmlns:a16="http://schemas.microsoft.com/office/drawing/2014/main" id="{4EF5C7CE-C901-425F-A767-620E3B0FD528}"/>
              </a:ext>
            </a:extLst>
          </p:cNvPr>
          <p:cNvSpPr>
            <a:spLocks noGrp="1"/>
          </p:cNvSpPr>
          <p:nvPr>
            <p:ph type="body" sz="quarter" idx="14"/>
          </p:nvPr>
        </p:nvSpPr>
        <p:spPr>
          <a:xfrm>
            <a:off x="1811564" y="6377255"/>
            <a:ext cx="4574948" cy="393479"/>
          </a:xfrm>
        </p:spPr>
        <p:txBody>
          <a:bodyPr>
            <a:normAutofit/>
          </a:bodyPr>
          <a:lstStyle>
            <a:lvl1pPr marL="0" indent="0" algn="r">
              <a:buNone/>
              <a:defRPr sz="2000">
                <a:solidFill>
                  <a:srgbClr val="002060"/>
                </a:solidFill>
                <a:latin typeface="+mn-lt"/>
              </a:defRPr>
            </a:lvl1pPr>
          </a:lstStyle>
          <a:p>
            <a:pPr lvl="0"/>
            <a:r>
              <a:rPr lang="en-US"/>
              <a:t>Click to edit Master text styles</a:t>
            </a:r>
          </a:p>
        </p:txBody>
      </p:sp>
      <p:sp>
        <p:nvSpPr>
          <p:cNvPr id="27" name="Rectangle 26">
            <a:extLst>
              <a:ext uri="{FF2B5EF4-FFF2-40B4-BE49-F238E27FC236}">
                <a16:creationId xmlns:a16="http://schemas.microsoft.com/office/drawing/2014/main" id="{26B27677-2597-4FA4-B43F-2301561466FD}"/>
              </a:ext>
            </a:extLst>
          </p:cNvPr>
          <p:cNvSpPr/>
          <p:nvPr userDrawn="1"/>
        </p:nvSpPr>
        <p:spPr>
          <a:xfrm>
            <a:off x="190794" y="8670917"/>
            <a:ext cx="3002351" cy="276999"/>
          </a:xfrm>
          <a:prstGeom prst="rect">
            <a:avLst/>
          </a:prstGeom>
        </p:spPr>
        <p:txBody>
          <a:bodyPr wrap="square">
            <a:spAutoFit/>
          </a:bodyPr>
          <a:lstStyle/>
          <a:p>
            <a:r>
              <a:rPr lang="en-US" sz="1200" dirty="0">
                <a:solidFill>
                  <a:srgbClr val="FFFFFF"/>
                </a:solidFill>
                <a:latin typeface="+mn-lt"/>
              </a:rPr>
              <a:t> © 2022 Ocwen. All rights reserved.</a:t>
            </a:r>
            <a:endParaRPr lang="en-US" sz="1200" dirty="0">
              <a:solidFill>
                <a:prstClr val="black"/>
              </a:solidFill>
              <a:latin typeface="+mn-lt"/>
            </a:endParaRPr>
          </a:p>
        </p:txBody>
      </p:sp>
    </p:spTree>
    <p:custDataLst>
      <p:tags r:id="rId1"/>
    </p:custDataLst>
    <p:extLst>
      <p:ext uri="{BB962C8B-B14F-4D97-AF65-F5344CB8AC3E}">
        <p14:creationId xmlns:p14="http://schemas.microsoft.com/office/powerpoint/2010/main" val="353795599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0B27756-E539-4DF0-9BF1-47F553D9FCB1}"/>
              </a:ext>
            </a:extLst>
          </p:cNvPr>
          <p:cNvSpPr/>
          <p:nvPr userDrawn="1"/>
        </p:nvSpPr>
        <p:spPr>
          <a:xfrm flipH="1">
            <a:off x="0" y="991996"/>
            <a:ext cx="6872068" cy="7631500"/>
          </a:xfrm>
          <a:prstGeom prst="rect">
            <a:avLst/>
          </a:prstGeom>
          <a:pattFill prst="pct20">
            <a:fgClr>
              <a:schemeClr val="accent3">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0" name="Picture 19">
            <a:extLst>
              <a:ext uri="{FF2B5EF4-FFF2-40B4-BE49-F238E27FC236}">
                <a16:creationId xmlns:a16="http://schemas.microsoft.com/office/drawing/2014/main" id="{E5BE596B-D593-44C6-A97F-8B2C13273B83}"/>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4063" y="8652706"/>
            <a:ext cx="6872063" cy="491294"/>
          </a:xfrm>
          <a:prstGeom prst="rect">
            <a:avLst/>
          </a:prstGeom>
        </p:spPr>
      </p:pic>
      <p:sp>
        <p:nvSpPr>
          <p:cNvPr id="23" name="Rectangle 22">
            <a:extLst>
              <a:ext uri="{FF2B5EF4-FFF2-40B4-BE49-F238E27FC236}">
                <a16:creationId xmlns:a16="http://schemas.microsoft.com/office/drawing/2014/main" id="{593DADF7-5AA4-4052-AEE7-5B488DAFC8B9}"/>
              </a:ext>
            </a:extLst>
          </p:cNvPr>
          <p:cNvSpPr/>
          <p:nvPr userDrawn="1"/>
        </p:nvSpPr>
        <p:spPr>
          <a:xfrm>
            <a:off x="6291925" y="8657165"/>
            <a:ext cx="486000" cy="486833"/>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Parallelogram 1">
            <a:extLst>
              <a:ext uri="{FF2B5EF4-FFF2-40B4-BE49-F238E27FC236}">
                <a16:creationId xmlns:a16="http://schemas.microsoft.com/office/drawing/2014/main" id="{1230B1B1-76C9-42A9-B9DF-B9B63CCE03C0}"/>
              </a:ext>
            </a:extLst>
          </p:cNvPr>
          <p:cNvSpPr/>
          <p:nvPr userDrawn="1"/>
        </p:nvSpPr>
        <p:spPr>
          <a:xfrm flipH="1">
            <a:off x="3348382" y="-260296"/>
            <a:ext cx="4806793" cy="1567543"/>
          </a:xfrm>
          <a:prstGeom prst="parallelogram">
            <a:avLst>
              <a:gd name="adj" fmla="val 7129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A8FF3D93-D449-4C55-99F9-2889A1076E0B}"/>
              </a:ext>
            </a:extLst>
          </p:cNvPr>
          <p:cNvSpPr/>
          <p:nvPr userDrawn="1"/>
        </p:nvSpPr>
        <p:spPr>
          <a:xfrm>
            <a:off x="-2" y="-1"/>
            <a:ext cx="6872068" cy="1172001"/>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9" name="Picture 18">
            <a:extLst>
              <a:ext uri="{FF2B5EF4-FFF2-40B4-BE49-F238E27FC236}">
                <a16:creationId xmlns:a16="http://schemas.microsoft.com/office/drawing/2014/main" id="{8E9FCE08-6B02-480A-AAE9-96E864AED64A}"/>
              </a:ext>
            </a:extLst>
          </p:cNvPr>
          <p:cNvPicPr>
            <a:picLocks noChangeAspect="1"/>
          </p:cNvPicPr>
          <p:nvPr userDrawn="1"/>
        </p:nvPicPr>
        <p:blipFill>
          <a:blip r:embed="rId3">
            <a:alphaModFix amt="62000"/>
            <a:extLst>
              <a:ext uri="{28A0092B-C50C-407E-A947-70E740481C1C}">
                <a14:useLocalDpi xmlns:a14="http://schemas.microsoft.com/office/drawing/2010/main" val="0"/>
              </a:ext>
            </a:extLst>
          </a:blip>
          <a:stretch>
            <a:fillRect/>
          </a:stretch>
        </p:blipFill>
        <p:spPr>
          <a:xfrm flipH="1">
            <a:off x="-3" y="0"/>
            <a:ext cx="6872063" cy="1172000"/>
          </a:xfrm>
          <a:prstGeom prst="rect">
            <a:avLst/>
          </a:prstGeom>
        </p:spPr>
      </p:pic>
      <p:sp>
        <p:nvSpPr>
          <p:cNvPr id="4" name="Date Placeholder 3"/>
          <p:cNvSpPr>
            <a:spLocks noGrp="1"/>
          </p:cNvSpPr>
          <p:nvPr>
            <p:ph type="dt" sz="half" idx="10"/>
          </p:nvPr>
        </p:nvSpPr>
        <p:spPr>
          <a:xfrm>
            <a:off x="471488" y="7953439"/>
            <a:ext cx="1543050" cy="486833"/>
          </a:xfrm>
        </p:spPr>
        <p:txBody>
          <a:bodyPr/>
          <a:lstStyle/>
          <a:p>
            <a:fld id="{EAB14EB5-FED0-4EA6-99A9-8556D6DF47A8}" type="datetime1">
              <a:rPr lang="en-PH" smtClean="0"/>
              <a:t>18/05/2022</a:t>
            </a:fld>
            <a:endParaRPr lang="en-PH"/>
          </a:p>
        </p:txBody>
      </p:sp>
      <p:sp>
        <p:nvSpPr>
          <p:cNvPr id="5" name="Footer Placeholder 4"/>
          <p:cNvSpPr>
            <a:spLocks noGrp="1"/>
          </p:cNvSpPr>
          <p:nvPr>
            <p:ph type="ftr" sz="quarter" idx="11"/>
          </p:nvPr>
        </p:nvSpPr>
        <p:spPr>
          <a:xfrm>
            <a:off x="2271713" y="7953439"/>
            <a:ext cx="2314575" cy="486833"/>
          </a:xfrm>
        </p:spPr>
        <p:txBody>
          <a:bodyPr/>
          <a:lstStyle/>
          <a:p>
            <a:endParaRPr lang="en-PH"/>
          </a:p>
        </p:txBody>
      </p:sp>
      <p:sp>
        <p:nvSpPr>
          <p:cNvPr id="6" name="Slide Number Placeholder 5"/>
          <p:cNvSpPr>
            <a:spLocks noGrp="1"/>
          </p:cNvSpPr>
          <p:nvPr>
            <p:ph type="sldNum" sz="quarter" idx="12"/>
          </p:nvPr>
        </p:nvSpPr>
        <p:spPr>
          <a:xfrm>
            <a:off x="4843463" y="7953439"/>
            <a:ext cx="1543050" cy="486833"/>
          </a:xfrm>
        </p:spPr>
        <p:txBody>
          <a:bodyPr/>
          <a:lstStyle/>
          <a:p>
            <a:fld id="{6E1472F6-BC78-43F0-8CDA-FB3A7DFED681}" type="slidenum">
              <a:rPr lang="en-PH" smtClean="0"/>
              <a:t>‹#›</a:t>
            </a:fld>
            <a:endParaRPr lang="en-PH"/>
          </a:p>
        </p:txBody>
      </p:sp>
      <p:sp>
        <p:nvSpPr>
          <p:cNvPr id="9" name="Title 1">
            <a:extLst>
              <a:ext uri="{FF2B5EF4-FFF2-40B4-BE49-F238E27FC236}">
                <a16:creationId xmlns:a16="http://schemas.microsoft.com/office/drawing/2014/main" id="{4102EE30-F486-4AA3-886A-F9F33B06DE76}"/>
              </a:ext>
            </a:extLst>
          </p:cNvPr>
          <p:cNvSpPr txBox="1"/>
          <p:nvPr userDrawn="1"/>
        </p:nvSpPr>
        <p:spPr>
          <a:xfrm>
            <a:off x="132735" y="279551"/>
            <a:ext cx="1135625" cy="66916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400" b="1">
                <a:solidFill>
                  <a:schemeClr val="bg1"/>
                </a:solidFill>
                <a:latin typeface="+mn-lt"/>
              </a:rPr>
              <a:t>JOB </a:t>
            </a:r>
            <a:r>
              <a:rPr lang="en-US" sz="3400" b="1">
                <a:solidFill>
                  <a:schemeClr val="accent5"/>
                </a:solidFill>
                <a:latin typeface="+mn-lt"/>
              </a:rPr>
              <a:t>AID</a:t>
            </a:r>
            <a:endParaRPr lang="en-PH" sz="3400" b="1">
              <a:solidFill>
                <a:schemeClr val="accent5"/>
              </a:solidFill>
              <a:latin typeface="+mn-lt"/>
            </a:endParaRPr>
          </a:p>
        </p:txBody>
      </p:sp>
      <p:cxnSp>
        <p:nvCxnSpPr>
          <p:cNvPr id="10" name="Straight Connector 9">
            <a:extLst>
              <a:ext uri="{FF2B5EF4-FFF2-40B4-BE49-F238E27FC236}">
                <a16:creationId xmlns:a16="http://schemas.microsoft.com/office/drawing/2014/main" id="{E8932F3C-DF21-48C2-826B-C036D19DA0D5}"/>
              </a:ext>
            </a:extLst>
          </p:cNvPr>
          <p:cNvCxnSpPr/>
          <p:nvPr userDrawn="1"/>
        </p:nvCxnSpPr>
        <p:spPr>
          <a:xfrm flipH="1">
            <a:off x="1370191" y="175931"/>
            <a:ext cx="0" cy="7920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1DEE13D-DF19-4895-8AB5-D45A46BEDBAB}"/>
              </a:ext>
            </a:extLst>
          </p:cNvPr>
          <p:cNvSpPr/>
          <p:nvPr userDrawn="1"/>
        </p:nvSpPr>
        <p:spPr>
          <a:xfrm>
            <a:off x="774458" y="8759854"/>
            <a:ext cx="3002351" cy="276999"/>
          </a:xfrm>
          <a:prstGeom prst="rect">
            <a:avLst/>
          </a:prstGeom>
        </p:spPr>
        <p:txBody>
          <a:bodyPr wrap="square">
            <a:spAutoFit/>
          </a:bodyPr>
          <a:lstStyle/>
          <a:p>
            <a:r>
              <a:rPr lang="en-US" sz="1200" dirty="0">
                <a:solidFill>
                  <a:srgbClr val="FFFFFF"/>
                </a:solidFill>
                <a:latin typeface="+mn-lt"/>
              </a:rPr>
              <a:t> © 2022 Ocwen. All rights reserved.</a:t>
            </a:r>
            <a:endParaRPr lang="en-US" sz="1200" dirty="0">
              <a:solidFill>
                <a:prstClr val="black"/>
              </a:solidFill>
              <a:latin typeface="+mn-lt"/>
            </a:endParaRPr>
          </a:p>
        </p:txBody>
      </p:sp>
      <p:sp>
        <p:nvSpPr>
          <p:cNvPr id="21" name="Rectangle 20">
            <a:extLst>
              <a:ext uri="{FF2B5EF4-FFF2-40B4-BE49-F238E27FC236}">
                <a16:creationId xmlns:a16="http://schemas.microsoft.com/office/drawing/2014/main" id="{135B2BE4-5B76-4322-A514-DFA45DDEB9BF}"/>
              </a:ext>
            </a:extLst>
          </p:cNvPr>
          <p:cNvSpPr/>
          <p:nvPr userDrawn="1"/>
        </p:nvSpPr>
        <p:spPr>
          <a:xfrm>
            <a:off x="6372000" y="8657166"/>
            <a:ext cx="486000" cy="48683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2" name="Picture 21" descr="Shape, circle&#10;&#10;Description automatically generated">
            <a:extLst>
              <a:ext uri="{FF2B5EF4-FFF2-40B4-BE49-F238E27FC236}">
                <a16:creationId xmlns:a16="http://schemas.microsoft.com/office/drawing/2014/main" id="{99BC6A37-3CDD-448C-B54B-BE0030C7C7E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452760" y="8700441"/>
            <a:ext cx="343005" cy="400280"/>
          </a:xfrm>
          <a:prstGeom prst="rect">
            <a:avLst/>
          </a:prstGeom>
        </p:spPr>
      </p:pic>
      <p:sp>
        <p:nvSpPr>
          <p:cNvPr id="17" name="Parallelogram 16">
            <a:extLst>
              <a:ext uri="{FF2B5EF4-FFF2-40B4-BE49-F238E27FC236}">
                <a16:creationId xmlns:a16="http://schemas.microsoft.com/office/drawing/2014/main" id="{16F7B26A-4EA7-432F-918F-A5CEE05F0F68}"/>
              </a:ext>
            </a:extLst>
          </p:cNvPr>
          <p:cNvSpPr/>
          <p:nvPr userDrawn="1"/>
        </p:nvSpPr>
        <p:spPr>
          <a:xfrm flipH="1">
            <a:off x="-4001985" y="8653312"/>
            <a:ext cx="4806793" cy="496439"/>
          </a:xfrm>
          <a:prstGeom prst="parallelogram">
            <a:avLst>
              <a:gd name="adj" fmla="val 71296"/>
            </a:avLst>
          </a:prstGeom>
          <a:solidFill>
            <a:schemeClr val="accent6">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itle 1">
            <a:extLst>
              <a:ext uri="{FF2B5EF4-FFF2-40B4-BE49-F238E27FC236}">
                <a16:creationId xmlns:a16="http://schemas.microsoft.com/office/drawing/2014/main" id="{17B42889-D62D-402A-9209-6E8E6C56228A}"/>
              </a:ext>
            </a:extLst>
          </p:cNvPr>
          <p:cNvSpPr txBox="1"/>
          <p:nvPr userDrawn="1"/>
        </p:nvSpPr>
        <p:spPr>
          <a:xfrm>
            <a:off x="1583023" y="251414"/>
            <a:ext cx="5303090" cy="66916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bg1"/>
                </a:solidFill>
              </a:rPr>
              <a:t>Archiving Emails</a:t>
            </a:r>
            <a:endParaRPr lang="en-PH" sz="2000" b="1" dirty="0">
              <a:solidFill>
                <a:schemeClr val="bg1"/>
              </a:solidFill>
            </a:endParaRPr>
          </a:p>
        </p:txBody>
      </p:sp>
    </p:spTree>
    <p:custDataLst>
      <p:tags r:id="rId1"/>
    </p:custDataLst>
    <p:extLst>
      <p:ext uri="{BB962C8B-B14F-4D97-AF65-F5344CB8AC3E}">
        <p14:creationId xmlns:p14="http://schemas.microsoft.com/office/powerpoint/2010/main" val="351422935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C746AC-190B-4893-A6AF-A9430970143D}"/>
              </a:ext>
            </a:extLst>
          </p:cNvPr>
          <p:cNvSpPr/>
          <p:nvPr userDrawn="1"/>
        </p:nvSpPr>
        <p:spPr>
          <a:xfrm flipH="1">
            <a:off x="0" y="991996"/>
            <a:ext cx="6872068" cy="7631500"/>
          </a:xfrm>
          <a:prstGeom prst="rect">
            <a:avLst/>
          </a:prstGeom>
          <a:pattFill prst="pct20">
            <a:fgClr>
              <a:schemeClr val="accent3">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Parallelogram 9">
            <a:extLst>
              <a:ext uri="{FF2B5EF4-FFF2-40B4-BE49-F238E27FC236}">
                <a16:creationId xmlns:a16="http://schemas.microsoft.com/office/drawing/2014/main" id="{D918F1A8-D277-4FF0-9F79-A301BA8A036B}"/>
              </a:ext>
            </a:extLst>
          </p:cNvPr>
          <p:cNvSpPr/>
          <p:nvPr userDrawn="1"/>
        </p:nvSpPr>
        <p:spPr>
          <a:xfrm flipH="1">
            <a:off x="3348382" y="-260296"/>
            <a:ext cx="4806793" cy="1567543"/>
          </a:xfrm>
          <a:prstGeom prst="parallelogram">
            <a:avLst>
              <a:gd name="adj" fmla="val 7129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24849D6C-D065-4691-A2F4-4988C57C8320}"/>
              </a:ext>
            </a:extLst>
          </p:cNvPr>
          <p:cNvSpPr/>
          <p:nvPr userDrawn="1"/>
        </p:nvSpPr>
        <p:spPr>
          <a:xfrm>
            <a:off x="-2" y="-1"/>
            <a:ext cx="6872068" cy="1172001"/>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2" name="Picture 11">
            <a:extLst>
              <a:ext uri="{FF2B5EF4-FFF2-40B4-BE49-F238E27FC236}">
                <a16:creationId xmlns:a16="http://schemas.microsoft.com/office/drawing/2014/main" id="{91FDF336-35E3-45D2-B6B3-A84ADF0500AF}"/>
              </a:ext>
            </a:extLst>
          </p:cNvPr>
          <p:cNvPicPr>
            <a:picLocks noChangeAspect="1"/>
          </p:cNvPicPr>
          <p:nvPr userDrawn="1"/>
        </p:nvPicPr>
        <p:blipFill>
          <a:blip r:embed="rId3">
            <a:alphaModFix amt="62000"/>
            <a:extLst>
              <a:ext uri="{28A0092B-C50C-407E-A947-70E740481C1C}">
                <a14:useLocalDpi xmlns:a14="http://schemas.microsoft.com/office/drawing/2010/main" val="0"/>
              </a:ext>
            </a:extLst>
          </a:blip>
          <a:stretch>
            <a:fillRect/>
          </a:stretch>
        </p:blipFill>
        <p:spPr>
          <a:xfrm flipH="1">
            <a:off x="-3" y="0"/>
            <a:ext cx="6872063" cy="1172000"/>
          </a:xfrm>
          <a:prstGeom prst="rect">
            <a:avLst/>
          </a:prstGeom>
        </p:spPr>
      </p:pic>
      <p:sp>
        <p:nvSpPr>
          <p:cNvPr id="16" name="Title 1">
            <a:extLst>
              <a:ext uri="{FF2B5EF4-FFF2-40B4-BE49-F238E27FC236}">
                <a16:creationId xmlns:a16="http://schemas.microsoft.com/office/drawing/2014/main" id="{9CCE9E90-74DC-4087-8C80-4D390666ED4A}"/>
              </a:ext>
            </a:extLst>
          </p:cNvPr>
          <p:cNvSpPr txBox="1"/>
          <p:nvPr userDrawn="1"/>
        </p:nvSpPr>
        <p:spPr>
          <a:xfrm>
            <a:off x="132735" y="279551"/>
            <a:ext cx="1135625" cy="66916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400" b="1">
                <a:solidFill>
                  <a:schemeClr val="bg1"/>
                </a:solidFill>
                <a:latin typeface="+mn-lt"/>
              </a:rPr>
              <a:t>JOB </a:t>
            </a:r>
            <a:r>
              <a:rPr lang="en-US" sz="3400" b="1">
                <a:solidFill>
                  <a:schemeClr val="accent5"/>
                </a:solidFill>
                <a:latin typeface="+mn-lt"/>
              </a:rPr>
              <a:t>AID</a:t>
            </a:r>
            <a:endParaRPr lang="en-PH" sz="3400" b="1">
              <a:solidFill>
                <a:schemeClr val="accent5"/>
              </a:solidFill>
              <a:latin typeface="+mn-lt"/>
            </a:endParaRPr>
          </a:p>
        </p:txBody>
      </p:sp>
      <p:cxnSp>
        <p:nvCxnSpPr>
          <p:cNvPr id="17" name="Straight Connector 16">
            <a:extLst>
              <a:ext uri="{FF2B5EF4-FFF2-40B4-BE49-F238E27FC236}">
                <a16:creationId xmlns:a16="http://schemas.microsoft.com/office/drawing/2014/main" id="{652F5E19-AA6D-4B25-887D-34967E82C588}"/>
              </a:ext>
            </a:extLst>
          </p:cNvPr>
          <p:cNvCxnSpPr/>
          <p:nvPr userDrawn="1"/>
        </p:nvCxnSpPr>
        <p:spPr>
          <a:xfrm flipH="1">
            <a:off x="1370191" y="175931"/>
            <a:ext cx="0" cy="7920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F555BE95-6805-4AEE-BCE0-C07842D58BFD}"/>
              </a:ext>
            </a:extLst>
          </p:cNvPr>
          <p:cNvSpPr txBox="1"/>
          <p:nvPr userDrawn="1"/>
        </p:nvSpPr>
        <p:spPr>
          <a:xfrm>
            <a:off x="1583023" y="251414"/>
            <a:ext cx="5303090" cy="66916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a:solidFill>
                  <a:schemeClr val="bg1"/>
                </a:solidFill>
              </a:rPr>
              <a:t>Managing Travel and Expenses in Oracle® Fusion </a:t>
            </a:r>
            <a:endParaRPr lang="en-PH" sz="2000" b="1">
              <a:solidFill>
                <a:schemeClr val="bg1"/>
              </a:solidFill>
            </a:endParaRPr>
          </a:p>
        </p:txBody>
      </p:sp>
    </p:spTree>
    <p:custDataLst>
      <p:tags r:id="rId1"/>
    </p:custDataLst>
    <p:extLst>
      <p:ext uri="{BB962C8B-B14F-4D97-AF65-F5344CB8AC3E}">
        <p14:creationId xmlns:p14="http://schemas.microsoft.com/office/powerpoint/2010/main" val="208076297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C746AC-190B-4893-A6AF-A9430970143D}"/>
              </a:ext>
            </a:extLst>
          </p:cNvPr>
          <p:cNvSpPr/>
          <p:nvPr userDrawn="1"/>
        </p:nvSpPr>
        <p:spPr>
          <a:xfrm flipH="1">
            <a:off x="0" y="991996"/>
            <a:ext cx="6872068" cy="7631500"/>
          </a:xfrm>
          <a:prstGeom prst="rect">
            <a:avLst/>
          </a:prstGeom>
          <a:pattFill prst="pct20">
            <a:fgClr>
              <a:schemeClr val="accent3">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custDataLst>
      <p:tags r:id="rId1"/>
    </p:custDataLst>
    <p:extLst>
      <p:ext uri="{BB962C8B-B14F-4D97-AF65-F5344CB8AC3E}">
        <p14:creationId xmlns:p14="http://schemas.microsoft.com/office/powerpoint/2010/main" val="220903711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96EF6DD-72A8-42D7-8CAF-426B7478874E}" type="datetime1">
              <a:rPr lang="en-PH" smtClean="0"/>
              <a:t>18/05/2022</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E1472F6-BC78-43F0-8CDA-FB3A7DFED681}" type="slidenum">
              <a:rPr lang="en-PH" smtClean="0"/>
              <a:t>‹#›</a:t>
            </a:fld>
            <a:endParaRPr lang="en-PH"/>
          </a:p>
        </p:txBody>
      </p:sp>
    </p:spTree>
    <p:custDataLst>
      <p:tags r:id="rId1"/>
    </p:custDataLst>
    <p:extLst>
      <p:ext uri="{BB962C8B-B14F-4D97-AF65-F5344CB8AC3E}">
        <p14:creationId xmlns:p14="http://schemas.microsoft.com/office/powerpoint/2010/main" val="197061589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32B520-5C55-413A-91FD-B04C0E4E9B34}" type="datetime1">
              <a:rPr lang="en-PH" smtClean="0"/>
              <a:t>18/05/2022</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6E1472F6-BC78-43F0-8CDA-FB3A7DFED681}" type="slidenum">
              <a:rPr lang="en-PH" smtClean="0"/>
              <a:t>‹#›</a:t>
            </a:fld>
            <a:endParaRPr lang="en-PH"/>
          </a:p>
        </p:txBody>
      </p:sp>
    </p:spTree>
    <p:custDataLst>
      <p:tags r:id="rId1"/>
    </p:custDataLst>
    <p:extLst>
      <p:ext uri="{BB962C8B-B14F-4D97-AF65-F5344CB8AC3E}">
        <p14:creationId xmlns:p14="http://schemas.microsoft.com/office/powerpoint/2010/main" val="199721933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477D80-11E3-4D92-9BA7-752207257AB3}" type="datetime1">
              <a:rPr lang="en-PH" smtClean="0"/>
              <a:t>18/05/2022</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6E1472F6-BC78-43F0-8CDA-FB3A7DFED681}" type="slidenum">
              <a:rPr lang="en-PH" smtClean="0"/>
              <a:t>‹#›</a:t>
            </a:fld>
            <a:endParaRPr lang="en-PH"/>
          </a:p>
        </p:txBody>
      </p:sp>
    </p:spTree>
    <p:extLst>
      <p:ext uri="{BB962C8B-B14F-4D97-AF65-F5344CB8AC3E}">
        <p14:creationId xmlns:p14="http://schemas.microsoft.com/office/powerpoint/2010/main" val="4076817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98A01-C5F3-4D52-8481-8064104AAABF}" type="datetime1">
              <a:rPr lang="en-PH" smtClean="0"/>
              <a:t>18/05/2022</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6E1472F6-BC78-43F0-8CDA-FB3A7DFED681}" type="slidenum">
              <a:rPr lang="en-PH" smtClean="0"/>
              <a:t>‹#›</a:t>
            </a:fld>
            <a:endParaRPr lang="en-PH"/>
          </a:p>
        </p:txBody>
      </p:sp>
    </p:spTree>
    <p:extLst>
      <p:ext uri="{BB962C8B-B14F-4D97-AF65-F5344CB8AC3E}">
        <p14:creationId xmlns:p14="http://schemas.microsoft.com/office/powerpoint/2010/main" val="428357649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43F5DD-15F5-4665-99B3-ED8CDE2889CF}" type="datetime1">
              <a:rPr lang="en-PH" smtClean="0"/>
              <a:t>18/05/2022</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E1472F6-BC78-43F0-8CDA-FB3A7DFED681}" type="slidenum">
              <a:rPr lang="en-PH" smtClean="0"/>
              <a:t>‹#›</a:t>
            </a:fld>
            <a:endParaRPr lang="en-PH"/>
          </a:p>
        </p:txBody>
      </p:sp>
    </p:spTree>
    <p:extLst>
      <p:ext uri="{BB962C8B-B14F-4D97-AF65-F5344CB8AC3E}">
        <p14:creationId xmlns:p14="http://schemas.microsoft.com/office/powerpoint/2010/main" val="113713315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DA4FB5F-C657-40F2-A5AC-CF2FC16836C2}" type="datetime1">
              <a:rPr lang="en-PH" smtClean="0"/>
              <a:t>18/05/2022</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E1472F6-BC78-43F0-8CDA-FB3A7DFED681}" type="slidenum">
              <a:rPr lang="en-PH" smtClean="0"/>
              <a:t>‹#›</a:t>
            </a:fld>
            <a:endParaRPr lang="en-PH"/>
          </a:p>
        </p:txBody>
      </p:sp>
    </p:spTree>
    <p:extLst>
      <p:ext uri="{BB962C8B-B14F-4D97-AF65-F5344CB8AC3E}">
        <p14:creationId xmlns:p14="http://schemas.microsoft.com/office/powerpoint/2010/main" val="314271895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1F60A7-64E7-4C86-B46C-6132906CF502}" type="datetime1">
              <a:rPr lang="en-PH" smtClean="0"/>
              <a:t>18/05/2022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E1472F6-BC78-43F0-8CDA-FB3A7DFED681}" type="slidenum">
              <a:rPr lang="en-PH" smtClean="0"/>
              <a:t>‹#›</a:t>
            </a:fld>
            <a:endParaRPr lang="en-PH"/>
          </a:p>
        </p:txBody>
      </p:sp>
    </p:spTree>
    <p:extLst>
      <p:ext uri="{BB962C8B-B14F-4D97-AF65-F5344CB8AC3E}">
        <p14:creationId xmlns:p14="http://schemas.microsoft.com/office/powerpoint/2010/main" val="182516984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270413-2208-4894-BD95-C915830B0809}" type="datetime1">
              <a:rPr lang="en-PH" smtClean="0"/>
              <a:t>18/05/2022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E1472F6-BC78-43F0-8CDA-FB3A7DFED681}" type="slidenum">
              <a:rPr lang="en-PH" smtClean="0"/>
              <a:t>‹#›</a:t>
            </a:fld>
            <a:endParaRPr lang="en-PH"/>
          </a:p>
        </p:txBody>
      </p:sp>
    </p:spTree>
    <p:extLst>
      <p:ext uri="{BB962C8B-B14F-4D97-AF65-F5344CB8AC3E}">
        <p14:creationId xmlns:p14="http://schemas.microsoft.com/office/powerpoint/2010/main" val="354738389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3C5CF96E-344C-498E-A011-6D49277EDB04}" type="datetime1">
              <a:rPr lang="en-PH" smtClean="0"/>
              <a:t>18/05/2022</a:t>
            </a:fld>
            <a:endParaRPr lang="en-PH"/>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6E1472F6-BC78-43F0-8CDA-FB3A7DFED681}" type="slidenum">
              <a:rPr lang="en-PH" smtClean="0"/>
              <a:t>‹#›</a:t>
            </a:fld>
            <a:endParaRPr lang="en-PH"/>
          </a:p>
        </p:txBody>
      </p:sp>
    </p:spTree>
    <p:custDataLst>
      <p:tags r:id="rId14"/>
    </p:custDataLst>
    <p:extLst>
      <p:ext uri="{BB962C8B-B14F-4D97-AF65-F5344CB8AC3E}">
        <p14:creationId xmlns:p14="http://schemas.microsoft.com/office/powerpoint/2010/main" val="1419194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72"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94B1C-32A1-416C-9FF0-0FA7E108397C}"/>
              </a:ext>
            </a:extLst>
          </p:cNvPr>
          <p:cNvSpPr>
            <a:spLocks noGrp="1"/>
          </p:cNvSpPr>
          <p:nvPr>
            <p:ph type="ctrTitle"/>
          </p:nvPr>
        </p:nvSpPr>
        <p:spPr>
          <a:xfrm>
            <a:off x="683288" y="4980231"/>
            <a:ext cx="6010936" cy="669169"/>
          </a:xfrm>
        </p:spPr>
        <p:txBody>
          <a:bodyPr>
            <a:noAutofit/>
          </a:bodyPr>
          <a:lstStyle/>
          <a:p>
            <a:r>
              <a:rPr lang="en-US" sz="2800" b="1" dirty="0"/>
              <a:t>Archiving Emails</a:t>
            </a:r>
          </a:p>
        </p:txBody>
      </p:sp>
      <p:sp>
        <p:nvSpPr>
          <p:cNvPr id="9" name="Title 1">
            <a:extLst>
              <a:ext uri="{FF2B5EF4-FFF2-40B4-BE49-F238E27FC236}">
                <a16:creationId xmlns:a16="http://schemas.microsoft.com/office/drawing/2014/main" id="{4CF1DD5E-C2BF-4853-BE2C-23AA8F2AC242}"/>
              </a:ext>
            </a:extLst>
          </p:cNvPr>
          <p:cNvSpPr txBox="1"/>
          <p:nvPr/>
        </p:nvSpPr>
        <p:spPr>
          <a:xfrm>
            <a:off x="-58702" y="5311154"/>
            <a:ext cx="6746574" cy="669169"/>
          </a:xfrm>
          <a:prstGeom prst="rect">
            <a:avLst/>
          </a:prstGeom>
        </p:spPr>
        <p:txBody>
          <a:bodyPr vert="horz" lIns="91440" tIns="45720" rIns="91440" bIns="45720" rtlCol="0" anchor="b">
            <a:noAutofit/>
          </a:bodyPr>
          <a:lstStyle>
            <a:lvl1pPr algn="r" defTabSz="685800" rtl="0" eaLnBrk="1" latinLnBrk="0" hangingPunct="1">
              <a:lnSpc>
                <a:spcPct val="90000"/>
              </a:lnSpc>
              <a:spcBef>
                <a:spcPct val="0"/>
              </a:spcBef>
              <a:buNone/>
              <a:defRPr sz="4000" b="0" kern="1200">
                <a:solidFill>
                  <a:srgbClr val="002060"/>
                </a:solidFill>
                <a:latin typeface="+mn-lt"/>
                <a:ea typeface="+mj-ea"/>
                <a:cs typeface="+mj-cs"/>
              </a:defRPr>
            </a:lvl1pPr>
          </a:lstStyle>
          <a:p>
            <a:r>
              <a:rPr lang="en-US" sz="2000">
                <a:solidFill>
                  <a:schemeClr val="tx1">
                    <a:lumMod val="85000"/>
                    <a:lumOff val="15000"/>
                  </a:schemeClr>
                </a:solidFill>
              </a:rPr>
              <a:t>Version: 1</a:t>
            </a:r>
            <a:endParaRPr lang="en-PH" sz="2000">
              <a:solidFill>
                <a:schemeClr val="tx1">
                  <a:lumMod val="85000"/>
                  <a:lumOff val="15000"/>
                </a:schemeClr>
              </a:solidFill>
            </a:endParaRPr>
          </a:p>
        </p:txBody>
      </p:sp>
      <p:sp>
        <p:nvSpPr>
          <p:cNvPr id="11" name="Rectangle 10">
            <a:extLst>
              <a:ext uri="{FF2B5EF4-FFF2-40B4-BE49-F238E27FC236}">
                <a16:creationId xmlns:a16="http://schemas.microsoft.com/office/drawing/2014/main" id="{B057D73E-42D6-4D4D-8645-649623E19EC0}"/>
              </a:ext>
            </a:extLst>
          </p:cNvPr>
          <p:cNvSpPr/>
          <p:nvPr/>
        </p:nvSpPr>
        <p:spPr>
          <a:xfrm>
            <a:off x="57943" y="7181538"/>
            <a:ext cx="6742113" cy="938719"/>
          </a:xfrm>
          <a:prstGeom prst="rect">
            <a:avLst/>
          </a:prstGeom>
        </p:spPr>
        <p:txBody>
          <a:bodyPr wrap="square">
            <a:spAutoFit/>
          </a:bodyPr>
          <a:lstStyle/>
          <a:p>
            <a:pPr algn="l"/>
            <a:r>
              <a:rPr lang="en-US" sz="1100" b="0" i="0" u="none" strike="noStrike" baseline="0">
                <a:solidFill>
                  <a:schemeClr val="tx1">
                    <a:lumMod val="85000"/>
                    <a:lumOff val="15000"/>
                  </a:schemeClr>
                </a:solidFill>
                <a:latin typeface="Calibri" panose="020F0502020204030204" pitchFamily="34" charset="0"/>
              </a:rPr>
              <a:t>Disclaimer: Copyright © </a:t>
            </a:r>
            <a:r>
              <a:rPr lang="en-US" sz="1100">
                <a:solidFill>
                  <a:schemeClr val="tx1">
                    <a:lumMod val="85000"/>
                    <a:lumOff val="15000"/>
                  </a:schemeClr>
                </a:solidFill>
                <a:latin typeface="Calibri" panose="020F0502020204030204" pitchFamily="34" charset="0"/>
              </a:rPr>
              <a:t>11</a:t>
            </a:r>
            <a:r>
              <a:rPr lang="en-US" sz="1100" b="0" i="0" u="none" strike="noStrike" baseline="0">
                <a:solidFill>
                  <a:schemeClr val="tx1">
                    <a:lumMod val="85000"/>
                    <a:lumOff val="15000"/>
                  </a:schemeClr>
                </a:solidFill>
                <a:latin typeface="Calibri" panose="020F0502020204030204" pitchFamily="34" charset="0"/>
              </a:rPr>
              <a:t>/11/2021 Ocwen Financial Corporation, Inc. all rights reserved.  This document contains </a:t>
            </a:r>
          </a:p>
          <a:p>
            <a:pPr algn="l"/>
            <a:r>
              <a:rPr lang="en-US" sz="1100" b="0" i="0" u="none" strike="noStrike" baseline="0">
                <a:solidFill>
                  <a:schemeClr val="tx1">
                    <a:lumMod val="85000"/>
                    <a:lumOff val="15000"/>
                  </a:schemeClr>
                </a:solidFill>
                <a:latin typeface="Calibri" panose="020F0502020204030204" pitchFamily="34" charset="0"/>
              </a:rPr>
              <a:t>valuable confidential and proprietary information and/or trade secrets of Ocwen Financial Corporation, Inc.  This</a:t>
            </a:r>
          </a:p>
          <a:p>
            <a:pPr algn="l"/>
            <a:r>
              <a:rPr lang="en-US" sz="1100" b="0" i="0" u="none" strike="noStrike" baseline="0">
                <a:solidFill>
                  <a:schemeClr val="tx1">
                    <a:lumMod val="85000"/>
                    <a:lumOff val="15000"/>
                  </a:schemeClr>
                </a:solidFill>
                <a:latin typeface="Calibri" panose="020F0502020204030204" pitchFamily="34" charset="0"/>
              </a:rPr>
              <a:t>material may not be disclosed, reproduced, or distributed, in whole or in part, without the prior written approval of</a:t>
            </a:r>
          </a:p>
          <a:p>
            <a:pPr algn="l"/>
            <a:r>
              <a:rPr lang="en-US" sz="1100" b="0" i="0" u="none" strike="noStrike" baseline="0">
                <a:solidFill>
                  <a:schemeClr val="tx1">
                    <a:lumMod val="85000"/>
                    <a:lumOff val="15000"/>
                  </a:schemeClr>
                </a:solidFill>
                <a:latin typeface="Calibri" panose="020F0502020204030204" pitchFamily="34" charset="0"/>
              </a:rPr>
              <a:t>Ocwen Financial Corporation, Inc. Ocwen Financial Corporation and the Ocwen Financial Corporation logo are</a:t>
            </a:r>
          </a:p>
          <a:p>
            <a:pPr algn="l"/>
            <a:r>
              <a:rPr lang="en-US" sz="1100" b="0" i="0" u="none" strike="noStrike" baseline="0">
                <a:solidFill>
                  <a:schemeClr val="tx1">
                    <a:lumMod val="85000"/>
                    <a:lumOff val="15000"/>
                  </a:schemeClr>
                </a:solidFill>
                <a:latin typeface="Calibri" panose="020F0502020204030204" pitchFamily="34" charset="0"/>
              </a:rPr>
              <a:t>trademarks or registered trademarks of Ocwen Financial Corporation, Inc., West Palm Beach, Florida, USA.</a:t>
            </a:r>
            <a:endParaRPr lang="en-PH" sz="1100">
              <a:solidFill>
                <a:schemeClr val="tx1">
                  <a:lumMod val="85000"/>
                  <a:lumOff val="15000"/>
                </a:schemeClr>
              </a:solidFill>
            </a:endParaRPr>
          </a:p>
        </p:txBody>
      </p:sp>
      <p:sp>
        <p:nvSpPr>
          <p:cNvPr id="12" name="Title 1">
            <a:extLst>
              <a:ext uri="{FF2B5EF4-FFF2-40B4-BE49-F238E27FC236}">
                <a16:creationId xmlns:a16="http://schemas.microsoft.com/office/drawing/2014/main" id="{4D58CEFC-233E-49D8-9C64-A9A9CDF8410F}"/>
              </a:ext>
            </a:extLst>
          </p:cNvPr>
          <p:cNvSpPr txBox="1"/>
          <p:nvPr/>
        </p:nvSpPr>
        <p:spPr>
          <a:xfrm>
            <a:off x="273940" y="1155973"/>
            <a:ext cx="3240553" cy="669169"/>
          </a:xfrm>
          <a:prstGeom prst="rect">
            <a:avLst/>
          </a:prstGeom>
        </p:spPr>
        <p:txBody>
          <a:bodyPr vert="horz" lIns="91440" tIns="45720" rIns="91440" bIns="45720" rtlCol="0" anchor="b">
            <a:noAutofit/>
          </a:bodyPr>
          <a:lstStyle>
            <a:lvl1pPr algn="r" defTabSz="685800" rtl="0" eaLnBrk="1" latinLnBrk="0" hangingPunct="1">
              <a:lnSpc>
                <a:spcPct val="90000"/>
              </a:lnSpc>
              <a:spcBef>
                <a:spcPct val="0"/>
              </a:spcBef>
              <a:buNone/>
              <a:defRPr sz="4000" b="0" kern="1200">
                <a:solidFill>
                  <a:srgbClr val="002060"/>
                </a:solidFill>
                <a:latin typeface="+mn-lt"/>
                <a:ea typeface="+mj-ea"/>
                <a:cs typeface="+mj-cs"/>
              </a:defRPr>
            </a:lvl1pPr>
          </a:lstStyle>
          <a:p>
            <a:r>
              <a:rPr lang="en-US" sz="6600" b="1">
                <a:solidFill>
                  <a:schemeClr val="accent5"/>
                </a:solidFill>
                <a:effectLst>
                  <a:outerShdw blurRad="38100" dist="38100" dir="2700000" algn="tl">
                    <a:srgbClr val="000000">
                      <a:alpha val="43137"/>
                    </a:srgbClr>
                  </a:outerShdw>
                </a:effectLst>
              </a:rPr>
              <a:t>JOB AID</a:t>
            </a:r>
            <a:endParaRPr lang="en-PH" sz="6600" b="1">
              <a:solidFill>
                <a:schemeClr val="accent5"/>
              </a:solidFill>
              <a:effectLst>
                <a:outerShdw blurRad="38100" dist="38100" dir="2700000" algn="tl">
                  <a:srgbClr val="000000">
                    <a:alpha val="43137"/>
                  </a:srgbClr>
                </a:outerShdw>
              </a:effectLst>
            </a:endParaRPr>
          </a:p>
        </p:txBody>
      </p:sp>
      <p:pic>
        <p:nvPicPr>
          <p:cNvPr id="14" name="Picture 13" descr="Shape, circle&#10;&#10;Description automatically generated">
            <a:extLst>
              <a:ext uri="{FF2B5EF4-FFF2-40B4-BE49-F238E27FC236}">
                <a16:creationId xmlns:a16="http://schemas.microsoft.com/office/drawing/2014/main" id="{7A2DAE91-756C-401A-9F2A-420E0F31E4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518" y="371787"/>
            <a:ext cx="1039322" cy="1212868"/>
          </a:xfrm>
          <a:prstGeom prst="rect">
            <a:avLst/>
          </a:prstGeom>
        </p:spPr>
      </p:pic>
      <p:cxnSp>
        <p:nvCxnSpPr>
          <p:cNvPr id="5" name="Straight Connector 4">
            <a:extLst>
              <a:ext uri="{FF2B5EF4-FFF2-40B4-BE49-F238E27FC236}">
                <a16:creationId xmlns:a16="http://schemas.microsoft.com/office/drawing/2014/main" id="{2D05F7DD-9B7E-4818-968C-30CE3FCE8748}"/>
              </a:ext>
            </a:extLst>
          </p:cNvPr>
          <p:cNvCxnSpPr/>
          <p:nvPr/>
        </p:nvCxnSpPr>
        <p:spPr>
          <a:xfrm>
            <a:off x="683288" y="1675090"/>
            <a:ext cx="2672861"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645100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186D788-FFA8-4B42-964C-82B06E2A69F4}"/>
              </a:ext>
            </a:extLst>
          </p:cNvPr>
          <p:cNvSpPr/>
          <p:nvPr/>
        </p:nvSpPr>
        <p:spPr>
          <a:xfrm>
            <a:off x="425535" y="2572172"/>
            <a:ext cx="5049111" cy="292388"/>
          </a:xfrm>
          <a:prstGeom prst="rect">
            <a:avLst/>
          </a:prstGeom>
        </p:spPr>
        <p:txBody>
          <a:bodyPr wrap="square">
            <a:spAutoFit/>
          </a:bodyPr>
          <a:lstStyle/>
          <a:p>
            <a:pPr lvl="0"/>
            <a:r>
              <a:rPr lang="en-US" sz="1300" b="1" dirty="0">
                <a:solidFill>
                  <a:schemeClr val="tx1">
                    <a:lumMod val="85000"/>
                    <a:lumOff val="15000"/>
                  </a:schemeClr>
                </a:solidFill>
                <a:ea typeface="Calibri" panose="020F0502020204030204" pitchFamily="34" charset="0"/>
                <a:cs typeface="Calibri Light" panose="020F0302020204030204" pitchFamily="34" charset="0"/>
              </a:rPr>
              <a:t>Archive Mailbox</a:t>
            </a:r>
          </a:p>
        </p:txBody>
      </p:sp>
      <p:grpSp>
        <p:nvGrpSpPr>
          <p:cNvPr id="5" name="Group 4">
            <a:extLst>
              <a:ext uri="{FF2B5EF4-FFF2-40B4-BE49-F238E27FC236}">
                <a16:creationId xmlns:a16="http://schemas.microsoft.com/office/drawing/2014/main" id="{EEB7BB13-15A2-42B9-9650-17F2D1E26979}"/>
              </a:ext>
            </a:extLst>
          </p:cNvPr>
          <p:cNvGrpSpPr/>
          <p:nvPr/>
        </p:nvGrpSpPr>
        <p:grpSpPr>
          <a:xfrm>
            <a:off x="501686" y="2896024"/>
            <a:ext cx="5523194" cy="2432304"/>
            <a:chOff x="501685" y="1745005"/>
            <a:chExt cx="5848273" cy="2432304"/>
          </a:xfrm>
        </p:grpSpPr>
        <p:pic>
          <p:nvPicPr>
            <p:cNvPr id="4" name="Picture 3">
              <a:extLst>
                <a:ext uri="{FF2B5EF4-FFF2-40B4-BE49-F238E27FC236}">
                  <a16:creationId xmlns:a16="http://schemas.microsoft.com/office/drawing/2014/main" id="{F40BA682-B711-4DA6-84CB-929F50685DC3}"/>
                </a:ext>
              </a:extLst>
            </p:cNvPr>
            <p:cNvPicPr>
              <a:picLocks noChangeAspect="1"/>
            </p:cNvPicPr>
            <p:nvPr/>
          </p:nvPicPr>
          <p:blipFill rotWithShape="1">
            <a:blip r:embed="rId3">
              <a:extLst>
                <a:ext uri="{28A0092B-C50C-407E-A947-70E740481C1C}">
                  <a14:useLocalDpi xmlns:a14="http://schemas.microsoft.com/office/drawing/2010/main" val="0"/>
                </a:ext>
              </a:extLst>
            </a:blip>
            <a:srcRect t="14198" b="9238"/>
            <a:stretch/>
          </p:blipFill>
          <p:spPr>
            <a:xfrm>
              <a:off x="508041" y="1745740"/>
              <a:ext cx="2112046" cy="2425593"/>
            </a:xfrm>
            <a:prstGeom prst="rect">
              <a:avLst/>
            </a:prstGeom>
          </p:spPr>
        </p:pic>
        <p:sp>
          <p:nvSpPr>
            <p:cNvPr id="21" name="Rectangle: Top Corners Rounded 20">
              <a:extLst>
                <a:ext uri="{FF2B5EF4-FFF2-40B4-BE49-F238E27FC236}">
                  <a16:creationId xmlns:a16="http://schemas.microsoft.com/office/drawing/2014/main" id="{B4AE4778-F80B-482F-9E04-558E942DE7FD}"/>
                </a:ext>
              </a:extLst>
            </p:cNvPr>
            <p:cNvSpPr/>
            <p:nvPr/>
          </p:nvSpPr>
          <p:spPr>
            <a:xfrm rot="5400000">
              <a:off x="2209670" y="37020"/>
              <a:ext cx="2432304" cy="5848273"/>
            </a:xfrm>
            <a:prstGeom prst="round2Same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6" name="Rectangle 25">
              <a:extLst>
                <a:ext uri="{FF2B5EF4-FFF2-40B4-BE49-F238E27FC236}">
                  <a16:creationId xmlns:a16="http://schemas.microsoft.com/office/drawing/2014/main" id="{A8FDA2BC-F6B8-4BCA-94A6-827F1C95388F}"/>
                </a:ext>
              </a:extLst>
            </p:cNvPr>
            <p:cNvSpPr/>
            <p:nvPr/>
          </p:nvSpPr>
          <p:spPr>
            <a:xfrm>
              <a:off x="2950091" y="2150622"/>
              <a:ext cx="3152433" cy="1615827"/>
            </a:xfrm>
            <a:prstGeom prst="rect">
              <a:avLst/>
            </a:prstGeom>
          </p:spPr>
          <p:txBody>
            <a:bodyPr wrap="square">
              <a:spAutoFit/>
            </a:bodyPr>
            <a:lstStyle/>
            <a:p>
              <a:pPr lvl="0"/>
              <a:r>
                <a:rPr lang="en-US" sz="1100" dirty="0">
                  <a:solidFill>
                    <a:schemeClr val="tx1">
                      <a:lumMod val="85000"/>
                      <a:lumOff val="15000"/>
                    </a:schemeClr>
                  </a:solidFill>
                  <a:ea typeface="Calibri" panose="020F0502020204030204" pitchFamily="34" charset="0"/>
                  <a:cs typeface="Calibri Light" panose="020F0302020204030204" pitchFamily="34" charset="0"/>
                </a:rPr>
                <a:t>Everyone has an </a:t>
              </a:r>
              <a:r>
                <a:rPr lang="en-US" sz="1100" b="1" dirty="0">
                  <a:solidFill>
                    <a:schemeClr val="tx1">
                      <a:lumMod val="85000"/>
                      <a:lumOff val="15000"/>
                    </a:schemeClr>
                  </a:solidFill>
                  <a:ea typeface="Calibri" panose="020F0502020204030204" pitchFamily="34" charset="0"/>
                  <a:cs typeface="Calibri Light" panose="020F0302020204030204" pitchFamily="34" charset="0"/>
                </a:rPr>
                <a:t>Online Archive </a:t>
              </a:r>
              <a:r>
                <a:rPr lang="en-US" sz="1100" dirty="0">
                  <a:solidFill>
                    <a:schemeClr val="tx1">
                      <a:lumMod val="85000"/>
                      <a:lumOff val="15000"/>
                    </a:schemeClr>
                  </a:solidFill>
                  <a:ea typeface="Calibri" panose="020F0502020204030204" pitchFamily="34" charset="0"/>
                  <a:cs typeface="Calibri Light" panose="020F0302020204030204" pitchFamily="34" charset="0"/>
                </a:rPr>
                <a:t>folder in their MS Outlook.  You can manually move emails or they will automatically move after two years. </a:t>
              </a:r>
            </a:p>
            <a:p>
              <a:pPr lvl="0"/>
              <a:endParaRPr lang="en-US" sz="1100" dirty="0">
                <a:solidFill>
                  <a:schemeClr val="tx1">
                    <a:lumMod val="85000"/>
                    <a:lumOff val="15000"/>
                  </a:schemeClr>
                </a:solidFill>
                <a:ea typeface="Calibri" panose="020F0502020204030204" pitchFamily="34" charset="0"/>
                <a:cs typeface="Calibri Light" panose="020F0302020204030204" pitchFamily="34" charset="0"/>
              </a:endParaRPr>
            </a:p>
            <a:p>
              <a:pPr lvl="0"/>
              <a:r>
                <a:rPr lang="en-US" sz="1100" dirty="0">
                  <a:solidFill>
                    <a:schemeClr val="tx1">
                      <a:lumMod val="85000"/>
                      <a:lumOff val="15000"/>
                    </a:schemeClr>
                  </a:solidFill>
                  <a:ea typeface="Calibri" panose="020F0502020204030204" pitchFamily="34" charset="0"/>
                  <a:cs typeface="Calibri Light" panose="020F0302020204030204" pitchFamily="34" charset="0"/>
                </a:rPr>
                <a:t>The </a:t>
              </a:r>
              <a:r>
                <a:rPr lang="en-US" sz="1100" b="1" dirty="0">
                  <a:solidFill>
                    <a:schemeClr val="tx1">
                      <a:lumMod val="85000"/>
                      <a:lumOff val="15000"/>
                    </a:schemeClr>
                  </a:solidFill>
                  <a:ea typeface="Calibri" panose="020F0502020204030204" pitchFamily="34" charset="0"/>
                  <a:cs typeface="Calibri Light" panose="020F0302020204030204" pitchFamily="34" charset="0"/>
                </a:rPr>
                <a:t>Online Archive </a:t>
              </a:r>
              <a:r>
                <a:rPr lang="en-US" sz="1100" dirty="0">
                  <a:solidFill>
                    <a:schemeClr val="tx1">
                      <a:lumMod val="85000"/>
                      <a:lumOff val="15000"/>
                    </a:schemeClr>
                  </a:solidFill>
                  <a:ea typeface="Calibri" panose="020F0502020204030204" pitchFamily="34" charset="0"/>
                  <a:cs typeface="Calibri Light" panose="020F0302020204030204" pitchFamily="34" charset="0"/>
                </a:rPr>
                <a:t>folder is a specialized mailbox that appears alongside the user’s primary mailbox folders in Outlook or Outlook Web Access.  You can access the archive in the same way that you access the primary mailbox. </a:t>
              </a:r>
            </a:p>
          </p:txBody>
        </p:sp>
      </p:grpSp>
      <p:grpSp>
        <p:nvGrpSpPr>
          <p:cNvPr id="56" name="Group 55">
            <a:extLst>
              <a:ext uri="{FF2B5EF4-FFF2-40B4-BE49-F238E27FC236}">
                <a16:creationId xmlns:a16="http://schemas.microsoft.com/office/drawing/2014/main" id="{8A173C07-5FC6-4EEF-81E1-EDC8C6EC0379}"/>
              </a:ext>
            </a:extLst>
          </p:cNvPr>
          <p:cNvGrpSpPr/>
          <p:nvPr/>
        </p:nvGrpSpPr>
        <p:grpSpPr>
          <a:xfrm>
            <a:off x="502924" y="1776350"/>
            <a:ext cx="616955" cy="616955"/>
            <a:chOff x="1417834" y="7288464"/>
            <a:chExt cx="739739" cy="739739"/>
          </a:xfrm>
        </p:grpSpPr>
        <p:sp>
          <p:nvSpPr>
            <p:cNvPr id="57" name="Oval 56">
              <a:extLst>
                <a:ext uri="{FF2B5EF4-FFF2-40B4-BE49-F238E27FC236}">
                  <a16:creationId xmlns:a16="http://schemas.microsoft.com/office/drawing/2014/main" id="{8FA7FC21-AAB6-4F49-B786-669D78C612CD}"/>
                </a:ext>
              </a:extLst>
            </p:cNvPr>
            <p:cNvSpPr/>
            <p:nvPr/>
          </p:nvSpPr>
          <p:spPr>
            <a:xfrm>
              <a:off x="1417834" y="7288464"/>
              <a:ext cx="739739" cy="73973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58" name="Graphic 57" descr="Open book">
              <a:extLst>
                <a:ext uri="{FF2B5EF4-FFF2-40B4-BE49-F238E27FC236}">
                  <a16:creationId xmlns:a16="http://schemas.microsoft.com/office/drawing/2014/main" id="{8493F0BC-FA27-43F2-AABC-3F617560756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40282" y="7410912"/>
              <a:ext cx="494843" cy="494843"/>
            </a:xfrm>
            <a:prstGeom prst="rect">
              <a:avLst/>
            </a:prstGeom>
          </p:spPr>
        </p:pic>
      </p:grpSp>
      <p:sp>
        <p:nvSpPr>
          <p:cNvPr id="31" name="Rectangle 30">
            <a:extLst>
              <a:ext uri="{FF2B5EF4-FFF2-40B4-BE49-F238E27FC236}">
                <a16:creationId xmlns:a16="http://schemas.microsoft.com/office/drawing/2014/main" id="{19A84323-8067-485E-BE3A-52F2A06D341E}"/>
              </a:ext>
            </a:extLst>
          </p:cNvPr>
          <p:cNvSpPr/>
          <p:nvPr/>
        </p:nvSpPr>
        <p:spPr>
          <a:xfrm>
            <a:off x="44970" y="8691995"/>
            <a:ext cx="510363" cy="407035"/>
          </a:xfrm>
          <a:prstGeom prst="rect">
            <a:avLst/>
          </a:prstGeom>
        </p:spPr>
        <p:txBody>
          <a:bodyPr wrap="square">
            <a:spAutoFit/>
          </a:bodyPr>
          <a:lstStyle/>
          <a:p>
            <a:pPr lvl="0" algn="ctr">
              <a:lnSpc>
                <a:spcPct val="107000"/>
              </a:lnSpc>
              <a:spcAft>
                <a:spcPts val="800"/>
              </a:spcAft>
            </a:pPr>
            <a:r>
              <a:rPr lang="en-US" sz="2000" b="1">
                <a:solidFill>
                  <a:schemeClr val="accent1"/>
                </a:solidFill>
                <a:ea typeface="Calibri" panose="020F0502020204030204" pitchFamily="34" charset="0"/>
                <a:cs typeface="Calibri Light" panose="020F0302020204030204" pitchFamily="34" charset="0"/>
              </a:rPr>
              <a:t>1</a:t>
            </a:r>
          </a:p>
        </p:txBody>
      </p:sp>
      <p:grpSp>
        <p:nvGrpSpPr>
          <p:cNvPr id="11" name="Group 10">
            <a:extLst>
              <a:ext uri="{FF2B5EF4-FFF2-40B4-BE49-F238E27FC236}">
                <a16:creationId xmlns:a16="http://schemas.microsoft.com/office/drawing/2014/main" id="{4304A28E-1382-4184-8A39-DE6479D22C1B}"/>
              </a:ext>
            </a:extLst>
          </p:cNvPr>
          <p:cNvGrpSpPr/>
          <p:nvPr/>
        </p:nvGrpSpPr>
        <p:grpSpPr>
          <a:xfrm>
            <a:off x="425535" y="5680085"/>
            <a:ext cx="5365665" cy="1460343"/>
            <a:chOff x="425535" y="4630755"/>
            <a:chExt cx="5365665" cy="1460343"/>
          </a:xfrm>
        </p:grpSpPr>
        <p:sp>
          <p:nvSpPr>
            <p:cNvPr id="34" name="Rectangle 33">
              <a:extLst>
                <a:ext uri="{FF2B5EF4-FFF2-40B4-BE49-F238E27FC236}">
                  <a16:creationId xmlns:a16="http://schemas.microsoft.com/office/drawing/2014/main" id="{FFBE4DCB-EA45-4DE7-B6D7-5A5B5297412D}"/>
                </a:ext>
              </a:extLst>
            </p:cNvPr>
            <p:cNvSpPr/>
            <p:nvPr/>
          </p:nvSpPr>
          <p:spPr>
            <a:xfrm>
              <a:off x="884720" y="4968931"/>
              <a:ext cx="4906480" cy="1122167"/>
            </a:xfrm>
            <a:prstGeom prst="rect">
              <a:avLst/>
            </a:prstGeom>
          </p:spPr>
          <p:txBody>
            <a:bodyPr wrap="square">
              <a:spAutoFit/>
            </a:bodyPr>
            <a:lstStyle/>
            <a:p>
              <a:pPr lvl="0">
                <a:lnSpc>
                  <a:spcPct val="120000"/>
                </a:lnSpc>
                <a:spcAft>
                  <a:spcPts val="1800"/>
                </a:spcAft>
              </a:pPr>
              <a:r>
                <a:rPr lang="en-US" sz="1100" dirty="0">
                  <a:solidFill>
                    <a:schemeClr val="tx1">
                      <a:lumMod val="85000"/>
                      <a:lumOff val="15000"/>
                    </a:schemeClr>
                  </a:solidFill>
                  <a:ea typeface="Calibri" panose="020F0502020204030204" pitchFamily="34" charset="0"/>
                  <a:cs typeface="Calibri Light" panose="020F0302020204030204" pitchFamily="34" charset="0"/>
                </a:rPr>
                <a:t>Even if your primary mailbox has 100 gigabytes of storage capacity, it’s still helpful to use the Online Archive when you need to free up some storage capacity.</a:t>
              </a:r>
            </a:p>
            <a:p>
              <a:pPr lvl="0">
                <a:lnSpc>
                  <a:spcPct val="120000"/>
                </a:lnSpc>
                <a:spcAft>
                  <a:spcPts val="1800"/>
                </a:spcAft>
              </a:pPr>
              <a:r>
                <a:rPr lang="en-US" sz="1100" dirty="0">
                  <a:solidFill>
                    <a:schemeClr val="tx1">
                      <a:lumMod val="85000"/>
                      <a:lumOff val="15000"/>
                    </a:schemeClr>
                  </a:solidFill>
                  <a:ea typeface="Calibri" panose="020F0502020204030204" pitchFamily="34" charset="0"/>
                  <a:cs typeface="Calibri Light" panose="020F0302020204030204" pitchFamily="34" charset="0"/>
                </a:rPr>
                <a:t>It preserves and protects all inbound and outbound email messages (as well as attachments and metadata) so they can be accessed at a later date.</a:t>
              </a:r>
            </a:p>
          </p:txBody>
        </p:sp>
        <p:sp>
          <p:nvSpPr>
            <p:cNvPr id="36" name="Rectangle 35">
              <a:extLst>
                <a:ext uri="{FF2B5EF4-FFF2-40B4-BE49-F238E27FC236}">
                  <a16:creationId xmlns:a16="http://schemas.microsoft.com/office/drawing/2014/main" id="{D0C38896-29E3-47C4-9930-431CBC34CB7D}"/>
                </a:ext>
              </a:extLst>
            </p:cNvPr>
            <p:cNvSpPr/>
            <p:nvPr/>
          </p:nvSpPr>
          <p:spPr>
            <a:xfrm>
              <a:off x="425535" y="4630755"/>
              <a:ext cx="2825665" cy="292388"/>
            </a:xfrm>
            <a:prstGeom prst="rect">
              <a:avLst/>
            </a:prstGeom>
          </p:spPr>
          <p:txBody>
            <a:bodyPr wrap="square">
              <a:spAutoFit/>
            </a:bodyPr>
            <a:lstStyle/>
            <a:p>
              <a:pPr lvl="0"/>
              <a:r>
                <a:rPr lang="en-US" sz="1300" b="1" dirty="0">
                  <a:solidFill>
                    <a:schemeClr val="tx1">
                      <a:lumMod val="85000"/>
                      <a:lumOff val="15000"/>
                    </a:schemeClr>
                  </a:solidFill>
                  <a:ea typeface="Calibri" panose="020F0502020204030204" pitchFamily="34" charset="0"/>
                  <a:cs typeface="Calibri Light" panose="020F0302020204030204" pitchFamily="34" charset="0"/>
                </a:rPr>
                <a:t>Reasons for Using the Online Archive</a:t>
              </a:r>
            </a:p>
          </p:txBody>
        </p:sp>
        <p:sp>
          <p:nvSpPr>
            <p:cNvPr id="37" name="Oval 36">
              <a:extLst>
                <a:ext uri="{FF2B5EF4-FFF2-40B4-BE49-F238E27FC236}">
                  <a16:creationId xmlns:a16="http://schemas.microsoft.com/office/drawing/2014/main" id="{6DC23F8C-CD2B-43E5-9ABF-734B289082A7}"/>
                </a:ext>
              </a:extLst>
            </p:cNvPr>
            <p:cNvSpPr/>
            <p:nvPr/>
          </p:nvSpPr>
          <p:spPr>
            <a:xfrm>
              <a:off x="501686" y="5056674"/>
              <a:ext cx="309716" cy="309716"/>
            </a:xfrm>
            <a:prstGeom prst="ellipse">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1</a:t>
              </a:r>
              <a:endParaRPr lang="en-PH" sz="1000" b="1" dirty="0"/>
            </a:p>
          </p:txBody>
        </p:sp>
        <p:sp>
          <p:nvSpPr>
            <p:cNvPr id="38" name="Oval 37">
              <a:extLst>
                <a:ext uri="{FF2B5EF4-FFF2-40B4-BE49-F238E27FC236}">
                  <a16:creationId xmlns:a16="http://schemas.microsoft.com/office/drawing/2014/main" id="{C2EEF86B-1189-4085-864F-0ADA829E3ADB}"/>
                </a:ext>
              </a:extLst>
            </p:cNvPr>
            <p:cNvSpPr/>
            <p:nvPr/>
          </p:nvSpPr>
          <p:spPr>
            <a:xfrm>
              <a:off x="501686" y="5656764"/>
              <a:ext cx="309716" cy="309716"/>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2</a:t>
              </a:r>
              <a:endParaRPr lang="en-PH" sz="1000" b="1" dirty="0"/>
            </a:p>
          </p:txBody>
        </p:sp>
      </p:grpSp>
      <p:sp>
        <p:nvSpPr>
          <p:cNvPr id="15" name="Rectangle 14">
            <a:extLst>
              <a:ext uri="{FF2B5EF4-FFF2-40B4-BE49-F238E27FC236}">
                <a16:creationId xmlns:a16="http://schemas.microsoft.com/office/drawing/2014/main" id="{3C4521DE-5C9B-4B32-A203-1CFF070D595E}"/>
              </a:ext>
            </a:extLst>
          </p:cNvPr>
          <p:cNvSpPr/>
          <p:nvPr/>
        </p:nvSpPr>
        <p:spPr>
          <a:xfrm>
            <a:off x="1222003" y="1762259"/>
            <a:ext cx="5133073" cy="615553"/>
          </a:xfrm>
          <a:prstGeom prst="rect">
            <a:avLst/>
          </a:prstGeom>
        </p:spPr>
        <p:txBody>
          <a:bodyPr wrap="square">
            <a:spAutoFit/>
          </a:bodyPr>
          <a:lstStyle/>
          <a:p>
            <a:pPr lvl="0"/>
            <a:r>
              <a:rPr lang="en-US" sz="1700" dirty="0">
                <a:solidFill>
                  <a:schemeClr val="tx1">
                    <a:lumMod val="65000"/>
                    <a:lumOff val="35000"/>
                  </a:schemeClr>
                </a:solidFill>
                <a:ea typeface="Calibri" panose="020F0502020204030204" pitchFamily="34" charset="0"/>
                <a:cs typeface="Calibri Light" panose="020F0302020204030204" pitchFamily="34" charset="0"/>
              </a:rPr>
              <a:t>Are you holding on to emails from five years ago because you are afraid to delete them? Be not afraid!</a:t>
            </a:r>
          </a:p>
        </p:txBody>
      </p:sp>
    </p:spTree>
    <p:custDataLst>
      <p:tags r:id="rId1"/>
    </p:custDataLst>
    <p:extLst>
      <p:ext uri="{BB962C8B-B14F-4D97-AF65-F5344CB8AC3E}">
        <p14:creationId xmlns:p14="http://schemas.microsoft.com/office/powerpoint/2010/main" val="302652808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F68DB8CE-6B30-4594-84C6-67958A971312}"/>
              </a:ext>
            </a:extLst>
          </p:cNvPr>
          <p:cNvSpPr/>
          <p:nvPr/>
        </p:nvSpPr>
        <p:spPr>
          <a:xfrm>
            <a:off x="448799" y="6711104"/>
            <a:ext cx="2332559" cy="917776"/>
          </a:xfrm>
          <a:prstGeom prst="roundRect">
            <a:avLst>
              <a:gd name="adj" fmla="val 8216"/>
            </a:avLst>
          </a:prstGeom>
          <a:solidFill>
            <a:schemeClr val="accent5"/>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2AA68641-5E21-4944-B8CA-1C5BFFE66678}"/>
              </a:ext>
            </a:extLst>
          </p:cNvPr>
          <p:cNvSpPr/>
          <p:nvPr/>
        </p:nvSpPr>
        <p:spPr>
          <a:xfrm>
            <a:off x="442114" y="5467424"/>
            <a:ext cx="2332559" cy="820664"/>
          </a:xfrm>
          <a:prstGeom prst="roundRect">
            <a:avLst>
              <a:gd name="adj" fmla="val 8216"/>
            </a:avLst>
          </a:prstGeom>
          <a:solidFill>
            <a:schemeClr val="accent3">
              <a:lumMod val="50000"/>
            </a:schemeClr>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7339DDF-541D-44EC-8AE8-B19D917E58FE}"/>
              </a:ext>
            </a:extLst>
          </p:cNvPr>
          <p:cNvSpPr/>
          <p:nvPr/>
        </p:nvSpPr>
        <p:spPr>
          <a:xfrm>
            <a:off x="44970" y="8691995"/>
            <a:ext cx="510363" cy="407035"/>
          </a:xfrm>
          <a:prstGeom prst="rect">
            <a:avLst/>
          </a:prstGeom>
        </p:spPr>
        <p:txBody>
          <a:bodyPr wrap="square">
            <a:spAutoFit/>
          </a:bodyPr>
          <a:lstStyle/>
          <a:p>
            <a:pPr lvl="0" algn="ctr">
              <a:lnSpc>
                <a:spcPct val="107000"/>
              </a:lnSpc>
              <a:spcAft>
                <a:spcPts val="800"/>
              </a:spcAft>
            </a:pPr>
            <a:r>
              <a:rPr lang="en-US" sz="2000" b="1">
                <a:solidFill>
                  <a:schemeClr val="accent1"/>
                </a:solidFill>
                <a:ea typeface="Calibri" panose="020F0502020204030204" pitchFamily="34" charset="0"/>
                <a:cs typeface="Calibri Light" panose="020F0302020204030204" pitchFamily="34" charset="0"/>
              </a:rPr>
              <a:t>2</a:t>
            </a:r>
          </a:p>
        </p:txBody>
      </p:sp>
      <p:sp>
        <p:nvSpPr>
          <p:cNvPr id="37" name="Rectangle 36">
            <a:extLst>
              <a:ext uri="{FF2B5EF4-FFF2-40B4-BE49-F238E27FC236}">
                <a16:creationId xmlns:a16="http://schemas.microsoft.com/office/drawing/2014/main" id="{5BA97437-4869-4CD4-95D8-5466417D91F1}"/>
              </a:ext>
            </a:extLst>
          </p:cNvPr>
          <p:cNvSpPr/>
          <p:nvPr/>
        </p:nvSpPr>
        <p:spPr>
          <a:xfrm>
            <a:off x="497991" y="5623842"/>
            <a:ext cx="2283367" cy="485069"/>
          </a:xfrm>
          <a:prstGeom prst="rect">
            <a:avLst/>
          </a:prstGeom>
        </p:spPr>
        <p:txBody>
          <a:bodyPr wrap="square">
            <a:spAutoFit/>
          </a:bodyPr>
          <a:lstStyle/>
          <a:p>
            <a:pPr lvl="0">
              <a:lnSpc>
                <a:spcPct val="120000"/>
              </a:lnSpc>
              <a:spcAft>
                <a:spcPts val="1200"/>
              </a:spcAft>
            </a:pPr>
            <a:r>
              <a:rPr lang="en-US" sz="1100" dirty="0">
                <a:solidFill>
                  <a:schemeClr val="bg1"/>
                </a:solidFill>
                <a:ea typeface="Calibri" panose="020F0502020204030204" pitchFamily="34" charset="0"/>
                <a:cs typeface="Calibri Light" panose="020F0302020204030204" pitchFamily="34" charset="0"/>
              </a:rPr>
              <a:t>The archive mailbox will show up in this format by default in Outlook.</a:t>
            </a:r>
          </a:p>
        </p:txBody>
      </p:sp>
      <p:sp>
        <p:nvSpPr>
          <p:cNvPr id="38" name="Rectangle 37">
            <a:extLst>
              <a:ext uri="{FF2B5EF4-FFF2-40B4-BE49-F238E27FC236}">
                <a16:creationId xmlns:a16="http://schemas.microsoft.com/office/drawing/2014/main" id="{E37AC0B0-DC5B-4E5F-91C5-309D313CC2CB}"/>
              </a:ext>
            </a:extLst>
          </p:cNvPr>
          <p:cNvSpPr/>
          <p:nvPr/>
        </p:nvSpPr>
        <p:spPr>
          <a:xfrm>
            <a:off x="383751" y="4715842"/>
            <a:ext cx="2397607" cy="492443"/>
          </a:xfrm>
          <a:prstGeom prst="rect">
            <a:avLst/>
          </a:prstGeom>
        </p:spPr>
        <p:txBody>
          <a:bodyPr wrap="square">
            <a:spAutoFit/>
          </a:bodyPr>
          <a:lstStyle/>
          <a:p>
            <a:pPr lvl="0"/>
            <a:r>
              <a:rPr lang="en-US" sz="1300" b="1" dirty="0">
                <a:solidFill>
                  <a:schemeClr val="tx1">
                    <a:lumMod val="85000"/>
                    <a:lumOff val="15000"/>
                  </a:schemeClr>
                </a:solidFill>
                <a:ea typeface="Calibri" panose="020F0502020204030204" pitchFamily="34" charset="0"/>
                <a:cs typeface="Calibri Light" panose="020F0302020204030204" pitchFamily="34" charset="0"/>
              </a:rPr>
              <a:t>How to archive emails in Microsoft Outlook</a:t>
            </a:r>
          </a:p>
        </p:txBody>
      </p:sp>
      <p:sp>
        <p:nvSpPr>
          <p:cNvPr id="39" name="Oval 38">
            <a:extLst>
              <a:ext uri="{FF2B5EF4-FFF2-40B4-BE49-F238E27FC236}">
                <a16:creationId xmlns:a16="http://schemas.microsoft.com/office/drawing/2014/main" id="{50C1D2A4-4F39-44B0-A228-B5FEAA2D7FFE}"/>
              </a:ext>
            </a:extLst>
          </p:cNvPr>
          <p:cNvSpPr/>
          <p:nvPr/>
        </p:nvSpPr>
        <p:spPr>
          <a:xfrm>
            <a:off x="593126" y="5293378"/>
            <a:ext cx="309716" cy="309716"/>
          </a:xfrm>
          <a:prstGeom prst="ellipse">
            <a:avLst/>
          </a:prstGeom>
          <a:solidFill>
            <a:schemeClr val="accent3">
              <a:lumMod val="75000"/>
            </a:schemeClr>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1</a:t>
            </a:r>
            <a:endParaRPr lang="en-PH" sz="1000" b="1" dirty="0"/>
          </a:p>
        </p:txBody>
      </p:sp>
      <p:sp>
        <p:nvSpPr>
          <p:cNvPr id="40" name="Oval 39">
            <a:extLst>
              <a:ext uri="{FF2B5EF4-FFF2-40B4-BE49-F238E27FC236}">
                <a16:creationId xmlns:a16="http://schemas.microsoft.com/office/drawing/2014/main" id="{4A71AE4D-8C30-4CDD-8D7A-25196CC4C1E7}"/>
              </a:ext>
            </a:extLst>
          </p:cNvPr>
          <p:cNvSpPr/>
          <p:nvPr/>
        </p:nvSpPr>
        <p:spPr>
          <a:xfrm>
            <a:off x="593126" y="6550266"/>
            <a:ext cx="309716" cy="309716"/>
          </a:xfrm>
          <a:prstGeom prst="ellipse">
            <a:avLst/>
          </a:prstGeom>
          <a:solidFill>
            <a:schemeClr val="accent5">
              <a:lumMod val="60000"/>
              <a:lumOff val="40000"/>
            </a:schemeClr>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2</a:t>
            </a:r>
            <a:endParaRPr lang="en-PH" sz="1000" b="1" dirty="0"/>
          </a:p>
        </p:txBody>
      </p:sp>
      <p:pic>
        <p:nvPicPr>
          <p:cNvPr id="10" name="Picture 9" descr="Graphical user interface, text, application, email&#10;&#10;Description automatically generated">
            <a:extLst>
              <a:ext uri="{FF2B5EF4-FFF2-40B4-BE49-F238E27FC236}">
                <a16:creationId xmlns:a16="http://schemas.microsoft.com/office/drawing/2014/main" id="{0E13A280-128B-43D2-BBB0-B3102A3D3E8A}"/>
              </a:ext>
            </a:extLst>
          </p:cNvPr>
          <p:cNvPicPr>
            <a:picLocks noChangeAspect="1"/>
          </p:cNvPicPr>
          <p:nvPr/>
        </p:nvPicPr>
        <p:blipFill rotWithShape="1">
          <a:blip r:embed="rId3">
            <a:extLst>
              <a:ext uri="{28A0092B-C50C-407E-A947-70E740481C1C}">
                <a14:useLocalDpi xmlns:a14="http://schemas.microsoft.com/office/drawing/2010/main" val="0"/>
              </a:ext>
            </a:extLst>
          </a:blip>
          <a:srcRect l="-1" r="66541"/>
          <a:stretch/>
        </p:blipFill>
        <p:spPr>
          <a:xfrm>
            <a:off x="3458597" y="1906201"/>
            <a:ext cx="3409563" cy="5461191"/>
          </a:xfrm>
          <a:prstGeom prst="rect">
            <a:avLst/>
          </a:prstGeom>
          <a:effectLst>
            <a:outerShdw blurRad="50800" dist="38100" dir="8100000" algn="tr" rotWithShape="0">
              <a:prstClr val="black">
                <a:alpha val="40000"/>
              </a:prstClr>
            </a:outerShdw>
          </a:effectLst>
        </p:spPr>
      </p:pic>
      <p:sp>
        <p:nvSpPr>
          <p:cNvPr id="11" name="Rectangle: Rounded Corners 10">
            <a:extLst>
              <a:ext uri="{FF2B5EF4-FFF2-40B4-BE49-F238E27FC236}">
                <a16:creationId xmlns:a16="http://schemas.microsoft.com/office/drawing/2014/main" id="{33D23C78-8AB3-4F59-B6C1-4F408B1F228F}"/>
              </a:ext>
            </a:extLst>
          </p:cNvPr>
          <p:cNvSpPr/>
          <p:nvPr/>
        </p:nvSpPr>
        <p:spPr>
          <a:xfrm>
            <a:off x="3272513" y="5448236"/>
            <a:ext cx="1778000" cy="721360"/>
          </a:xfrm>
          <a:prstGeom prst="roundRect">
            <a:avLst>
              <a:gd name="adj" fmla="val 8216"/>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1719E0C-12D3-441D-A969-A2365C1312DE}"/>
              </a:ext>
            </a:extLst>
          </p:cNvPr>
          <p:cNvSpPr/>
          <p:nvPr/>
        </p:nvSpPr>
        <p:spPr>
          <a:xfrm>
            <a:off x="538099" y="6887233"/>
            <a:ext cx="2154301" cy="688202"/>
          </a:xfrm>
          <a:prstGeom prst="rect">
            <a:avLst/>
          </a:prstGeom>
        </p:spPr>
        <p:txBody>
          <a:bodyPr wrap="square">
            <a:spAutoFit/>
          </a:bodyPr>
          <a:lstStyle/>
          <a:p>
            <a:pPr lvl="0">
              <a:lnSpc>
                <a:spcPct val="120000"/>
              </a:lnSpc>
              <a:spcAft>
                <a:spcPts val="1200"/>
              </a:spcAft>
            </a:pPr>
            <a:r>
              <a:rPr lang="en-US" sz="1100" dirty="0">
                <a:solidFill>
                  <a:schemeClr val="bg1"/>
                </a:solidFill>
                <a:ea typeface="Calibri" panose="020F0502020204030204" pitchFamily="34" charset="0"/>
                <a:cs typeface="Calibri Light" panose="020F0302020204030204" pitchFamily="34" charset="0"/>
              </a:rPr>
              <a:t>To use the feature manually, you may drag and drop your emails from your Inbox to Online Archive.</a:t>
            </a:r>
          </a:p>
        </p:txBody>
      </p:sp>
      <p:cxnSp>
        <p:nvCxnSpPr>
          <p:cNvPr id="45" name="Straight Connector 44">
            <a:extLst>
              <a:ext uri="{FF2B5EF4-FFF2-40B4-BE49-F238E27FC236}">
                <a16:creationId xmlns:a16="http://schemas.microsoft.com/office/drawing/2014/main" id="{37C78D3E-170F-4489-92A9-8D320D563282}"/>
              </a:ext>
            </a:extLst>
          </p:cNvPr>
          <p:cNvCxnSpPr>
            <a:cxnSpLocks/>
          </p:cNvCxnSpPr>
          <p:nvPr/>
        </p:nvCxnSpPr>
        <p:spPr>
          <a:xfrm flipH="1">
            <a:off x="2713713" y="5704530"/>
            <a:ext cx="558800" cy="0"/>
          </a:xfrm>
          <a:prstGeom prst="line">
            <a:avLst/>
          </a:prstGeom>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7EC17B8-F9AC-468E-A042-5645FD4A9110}"/>
              </a:ext>
            </a:extLst>
          </p:cNvPr>
          <p:cNvGrpSpPr/>
          <p:nvPr/>
        </p:nvGrpSpPr>
        <p:grpSpPr>
          <a:xfrm>
            <a:off x="403189" y="1475797"/>
            <a:ext cx="3106208" cy="2985054"/>
            <a:chOff x="3514553" y="4630755"/>
            <a:chExt cx="3058966" cy="2985054"/>
          </a:xfrm>
        </p:grpSpPr>
        <p:sp>
          <p:nvSpPr>
            <p:cNvPr id="51" name="Rectangle 50">
              <a:extLst>
                <a:ext uri="{FF2B5EF4-FFF2-40B4-BE49-F238E27FC236}">
                  <a16:creationId xmlns:a16="http://schemas.microsoft.com/office/drawing/2014/main" id="{68A5E849-0EAE-4930-8EDB-E46CCC9E7CB2}"/>
                </a:ext>
              </a:extLst>
            </p:cNvPr>
            <p:cNvSpPr/>
            <p:nvPr/>
          </p:nvSpPr>
          <p:spPr>
            <a:xfrm>
              <a:off x="3514553" y="4630755"/>
              <a:ext cx="2917912" cy="292388"/>
            </a:xfrm>
            <a:prstGeom prst="rect">
              <a:avLst/>
            </a:prstGeom>
          </p:spPr>
          <p:txBody>
            <a:bodyPr wrap="square">
              <a:spAutoFit/>
            </a:bodyPr>
            <a:lstStyle/>
            <a:p>
              <a:pPr lvl="0"/>
              <a:r>
                <a:rPr lang="en-US" sz="1300" b="1" dirty="0">
                  <a:solidFill>
                    <a:schemeClr val="tx1">
                      <a:lumMod val="85000"/>
                      <a:lumOff val="15000"/>
                    </a:schemeClr>
                  </a:solidFill>
                  <a:ea typeface="Calibri" panose="020F0502020204030204" pitchFamily="34" charset="0"/>
                  <a:cs typeface="Calibri Light" panose="020F0302020204030204" pitchFamily="34" charset="0"/>
                </a:rPr>
                <a:t>Features of the Archive Mailbox</a:t>
              </a:r>
            </a:p>
          </p:txBody>
        </p:sp>
        <p:sp>
          <p:nvSpPr>
            <p:cNvPr id="52" name="Rectangle 51">
              <a:extLst>
                <a:ext uri="{FF2B5EF4-FFF2-40B4-BE49-F238E27FC236}">
                  <a16:creationId xmlns:a16="http://schemas.microsoft.com/office/drawing/2014/main" id="{6224E6B1-4E04-4EC7-8640-C9F54DDBDDED}"/>
                </a:ext>
              </a:extLst>
            </p:cNvPr>
            <p:cNvSpPr/>
            <p:nvPr/>
          </p:nvSpPr>
          <p:spPr>
            <a:xfrm>
              <a:off x="3969671" y="4968931"/>
              <a:ext cx="2603848" cy="2646878"/>
            </a:xfrm>
            <a:prstGeom prst="rect">
              <a:avLst/>
            </a:prstGeom>
          </p:spPr>
          <p:txBody>
            <a:bodyPr wrap="square">
              <a:spAutoFit/>
            </a:bodyPr>
            <a:lstStyle/>
            <a:p>
              <a:pPr lvl="0">
                <a:spcAft>
                  <a:spcPts val="1800"/>
                </a:spcAft>
              </a:pPr>
              <a:r>
                <a:rPr lang="en-US" sz="1100" dirty="0">
                  <a:solidFill>
                    <a:schemeClr val="tx1">
                      <a:lumMod val="85000"/>
                      <a:lumOff val="15000"/>
                    </a:schemeClr>
                  </a:solidFill>
                  <a:ea typeface="Calibri" panose="020F0502020204030204" pitchFamily="34" charset="0"/>
                  <a:cs typeface="Calibri Light" panose="020F0302020204030204" pitchFamily="34" charset="0"/>
                </a:rPr>
                <a:t>Unlimited archive email storage that</a:t>
              </a:r>
              <a:br>
                <a:rPr lang="en-US" sz="1100" dirty="0">
                  <a:solidFill>
                    <a:schemeClr val="tx1">
                      <a:lumMod val="85000"/>
                      <a:lumOff val="15000"/>
                    </a:schemeClr>
                  </a:solidFill>
                  <a:ea typeface="Calibri" panose="020F0502020204030204" pitchFamily="34" charset="0"/>
                  <a:cs typeface="Calibri Light" panose="020F0302020204030204" pitchFamily="34" charset="0"/>
                </a:rPr>
              </a:br>
              <a:r>
                <a:rPr lang="en-US" sz="1100" dirty="0">
                  <a:solidFill>
                    <a:schemeClr val="tx1">
                      <a:lumMod val="85000"/>
                      <a:lumOff val="15000"/>
                    </a:schemeClr>
                  </a:solidFill>
                  <a:ea typeface="Calibri" panose="020F0502020204030204" pitchFamily="34" charset="0"/>
                  <a:cs typeface="Calibri Light" panose="020F0302020204030204" pitchFamily="34" charset="0"/>
                </a:rPr>
                <a:t>does not use your primary mailbox quota</a:t>
              </a:r>
            </a:p>
            <a:p>
              <a:pPr lvl="0">
                <a:spcAft>
                  <a:spcPts val="1800"/>
                </a:spcAft>
              </a:pPr>
              <a:r>
                <a:rPr lang="en-US" sz="1100" dirty="0">
                  <a:solidFill>
                    <a:schemeClr val="tx1">
                      <a:lumMod val="85000"/>
                      <a:lumOff val="15000"/>
                    </a:schemeClr>
                  </a:solidFill>
                  <a:ea typeface="Calibri" panose="020F0502020204030204" pitchFamily="34" charset="0"/>
                  <a:cs typeface="Calibri Light" panose="020F0302020204030204" pitchFamily="34" charset="0"/>
                </a:rPr>
                <a:t>Messages can be moved to the archive manually or they will move automatically when they are older than two years</a:t>
              </a:r>
            </a:p>
            <a:p>
              <a:pPr lvl="0">
                <a:spcAft>
                  <a:spcPts val="1800"/>
                </a:spcAft>
              </a:pPr>
              <a:r>
                <a:rPr lang="en-US" sz="1100" dirty="0">
                  <a:solidFill>
                    <a:schemeClr val="tx1">
                      <a:lumMod val="85000"/>
                      <a:lumOff val="15000"/>
                    </a:schemeClr>
                  </a:solidFill>
                  <a:ea typeface="Calibri" panose="020F0502020204030204" pitchFamily="34" charset="0"/>
                  <a:cs typeface="Calibri Light" panose="020F0302020204030204" pitchFamily="34" charset="0"/>
                </a:rPr>
                <a:t>The Online Archive is easily accessible through MS Outlook and OWA (In OWA, the folder is called In-Place Archive)</a:t>
              </a:r>
            </a:p>
            <a:p>
              <a:pPr lvl="0">
                <a:spcAft>
                  <a:spcPts val="1800"/>
                </a:spcAft>
              </a:pPr>
              <a:r>
                <a:rPr lang="en-US" sz="1100" dirty="0">
                  <a:solidFill>
                    <a:schemeClr val="tx1">
                      <a:lumMod val="85000"/>
                      <a:lumOff val="15000"/>
                    </a:schemeClr>
                  </a:solidFill>
                  <a:ea typeface="Calibri" panose="020F0502020204030204" pitchFamily="34" charset="0"/>
                  <a:cs typeface="Calibri Light" panose="020F0302020204030204" pitchFamily="34" charset="0"/>
                </a:rPr>
                <a:t>When using Outlook 2013 and higher, archived messages are searchable and viewable using MS Outlook and OWA</a:t>
              </a:r>
            </a:p>
          </p:txBody>
        </p:sp>
        <p:sp>
          <p:nvSpPr>
            <p:cNvPr id="53" name="Oval 52">
              <a:extLst>
                <a:ext uri="{FF2B5EF4-FFF2-40B4-BE49-F238E27FC236}">
                  <a16:creationId xmlns:a16="http://schemas.microsoft.com/office/drawing/2014/main" id="{E1E2F83D-D034-4EFB-B46F-F4EC79F4C522}"/>
                </a:ext>
              </a:extLst>
            </p:cNvPr>
            <p:cNvSpPr/>
            <p:nvPr/>
          </p:nvSpPr>
          <p:spPr>
            <a:xfrm>
              <a:off x="3580108" y="5018842"/>
              <a:ext cx="309716" cy="309716"/>
            </a:xfrm>
            <a:prstGeom prst="ellipse">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1</a:t>
              </a:r>
              <a:endParaRPr lang="en-PH" sz="1000" b="1" dirty="0"/>
            </a:p>
          </p:txBody>
        </p:sp>
        <p:sp>
          <p:nvSpPr>
            <p:cNvPr id="54" name="Oval 53">
              <a:extLst>
                <a:ext uri="{FF2B5EF4-FFF2-40B4-BE49-F238E27FC236}">
                  <a16:creationId xmlns:a16="http://schemas.microsoft.com/office/drawing/2014/main" id="{4480BECF-5832-49C3-8287-63092B55DFA5}"/>
                </a:ext>
              </a:extLst>
            </p:cNvPr>
            <p:cNvSpPr/>
            <p:nvPr/>
          </p:nvSpPr>
          <p:spPr>
            <a:xfrm>
              <a:off x="3580108" y="5630059"/>
              <a:ext cx="309716" cy="309716"/>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2</a:t>
              </a:r>
              <a:endParaRPr lang="en-PH" sz="1000" b="1" dirty="0"/>
            </a:p>
          </p:txBody>
        </p:sp>
        <p:sp>
          <p:nvSpPr>
            <p:cNvPr id="55" name="Oval 54">
              <a:extLst>
                <a:ext uri="{FF2B5EF4-FFF2-40B4-BE49-F238E27FC236}">
                  <a16:creationId xmlns:a16="http://schemas.microsoft.com/office/drawing/2014/main" id="{5CEF02CA-D1E1-4B5A-847C-1DD9A7AA7E8C}"/>
                </a:ext>
              </a:extLst>
            </p:cNvPr>
            <p:cNvSpPr/>
            <p:nvPr/>
          </p:nvSpPr>
          <p:spPr>
            <a:xfrm>
              <a:off x="3580108" y="6334917"/>
              <a:ext cx="309716" cy="309716"/>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3</a:t>
              </a:r>
              <a:endParaRPr lang="en-PH" sz="1000" b="1" dirty="0"/>
            </a:p>
          </p:txBody>
        </p:sp>
        <p:sp>
          <p:nvSpPr>
            <p:cNvPr id="56" name="Oval 55">
              <a:extLst>
                <a:ext uri="{FF2B5EF4-FFF2-40B4-BE49-F238E27FC236}">
                  <a16:creationId xmlns:a16="http://schemas.microsoft.com/office/drawing/2014/main" id="{DB325304-BE90-4ABB-9D25-3A6F3B690AC2}"/>
                </a:ext>
              </a:extLst>
            </p:cNvPr>
            <p:cNvSpPr/>
            <p:nvPr/>
          </p:nvSpPr>
          <p:spPr>
            <a:xfrm>
              <a:off x="3580108" y="7063131"/>
              <a:ext cx="309716" cy="309716"/>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4</a:t>
              </a:r>
              <a:endParaRPr lang="en-PH" sz="1000" b="1" dirty="0"/>
            </a:p>
          </p:txBody>
        </p:sp>
      </p:grpSp>
      <p:cxnSp>
        <p:nvCxnSpPr>
          <p:cNvPr id="58" name="Straight Connector 57">
            <a:extLst>
              <a:ext uri="{FF2B5EF4-FFF2-40B4-BE49-F238E27FC236}">
                <a16:creationId xmlns:a16="http://schemas.microsoft.com/office/drawing/2014/main" id="{B913C726-FF09-4C9A-98A6-6D1F7E58DE1A}"/>
              </a:ext>
            </a:extLst>
          </p:cNvPr>
          <p:cNvCxnSpPr>
            <a:cxnSpLocks/>
            <a:endCxn id="40" idx="0"/>
          </p:cNvCxnSpPr>
          <p:nvPr/>
        </p:nvCxnSpPr>
        <p:spPr>
          <a:xfrm>
            <a:off x="747984" y="6295275"/>
            <a:ext cx="0" cy="254991"/>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26476498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 text, application, email&#10;&#10;Description automatically generated">
            <a:extLst>
              <a:ext uri="{FF2B5EF4-FFF2-40B4-BE49-F238E27FC236}">
                <a16:creationId xmlns:a16="http://schemas.microsoft.com/office/drawing/2014/main" id="{A2C573C7-E8E1-449C-854A-CA4E28FFA42E}"/>
              </a:ext>
            </a:extLst>
          </p:cNvPr>
          <p:cNvPicPr>
            <a:picLocks noChangeAspect="1"/>
          </p:cNvPicPr>
          <p:nvPr/>
        </p:nvPicPr>
        <p:blipFill rotWithShape="1">
          <a:blip r:embed="rId3">
            <a:extLst>
              <a:ext uri="{28A0092B-C50C-407E-A947-70E740481C1C}">
                <a14:useLocalDpi xmlns:a14="http://schemas.microsoft.com/office/drawing/2010/main" val="0"/>
              </a:ext>
            </a:extLst>
          </a:blip>
          <a:srcRect r="58506"/>
          <a:stretch/>
        </p:blipFill>
        <p:spPr>
          <a:xfrm>
            <a:off x="2868417" y="1881777"/>
            <a:ext cx="3999743" cy="4724338"/>
          </a:xfrm>
          <a:prstGeom prst="rect">
            <a:avLst/>
          </a:prstGeom>
        </p:spPr>
      </p:pic>
      <p:sp>
        <p:nvSpPr>
          <p:cNvPr id="17" name="Rectangle 16">
            <a:extLst>
              <a:ext uri="{FF2B5EF4-FFF2-40B4-BE49-F238E27FC236}">
                <a16:creationId xmlns:a16="http://schemas.microsoft.com/office/drawing/2014/main" id="{D7339DDF-541D-44EC-8AE8-B19D917E58FE}"/>
              </a:ext>
            </a:extLst>
          </p:cNvPr>
          <p:cNvSpPr/>
          <p:nvPr/>
        </p:nvSpPr>
        <p:spPr>
          <a:xfrm>
            <a:off x="44970" y="8691995"/>
            <a:ext cx="510363" cy="407035"/>
          </a:xfrm>
          <a:prstGeom prst="rect">
            <a:avLst/>
          </a:prstGeom>
        </p:spPr>
        <p:txBody>
          <a:bodyPr wrap="square">
            <a:spAutoFit/>
          </a:bodyPr>
          <a:lstStyle/>
          <a:p>
            <a:pPr lvl="0" algn="ctr">
              <a:lnSpc>
                <a:spcPct val="107000"/>
              </a:lnSpc>
              <a:spcAft>
                <a:spcPts val="800"/>
              </a:spcAft>
            </a:pPr>
            <a:r>
              <a:rPr lang="en-US" sz="2000" b="1" dirty="0">
                <a:solidFill>
                  <a:schemeClr val="accent1"/>
                </a:solidFill>
                <a:ea typeface="Calibri" panose="020F0502020204030204" pitchFamily="34" charset="0"/>
                <a:cs typeface="Calibri Light" panose="020F0302020204030204" pitchFamily="34" charset="0"/>
              </a:rPr>
              <a:t>3</a:t>
            </a:r>
          </a:p>
        </p:txBody>
      </p:sp>
      <p:sp>
        <p:nvSpPr>
          <p:cNvPr id="33" name="Rectangle 32">
            <a:extLst>
              <a:ext uri="{FF2B5EF4-FFF2-40B4-BE49-F238E27FC236}">
                <a16:creationId xmlns:a16="http://schemas.microsoft.com/office/drawing/2014/main" id="{5824D239-8C3C-4284-BA72-366E353A1A88}"/>
              </a:ext>
            </a:extLst>
          </p:cNvPr>
          <p:cNvSpPr/>
          <p:nvPr/>
        </p:nvSpPr>
        <p:spPr>
          <a:xfrm>
            <a:off x="300151" y="1444376"/>
            <a:ext cx="3794329" cy="292388"/>
          </a:xfrm>
          <a:prstGeom prst="rect">
            <a:avLst/>
          </a:prstGeom>
        </p:spPr>
        <p:txBody>
          <a:bodyPr wrap="square">
            <a:spAutoFit/>
          </a:bodyPr>
          <a:lstStyle/>
          <a:p>
            <a:pPr lvl="0"/>
            <a:r>
              <a:rPr lang="en-US" sz="1300" b="1" dirty="0">
                <a:solidFill>
                  <a:schemeClr val="tx1">
                    <a:lumMod val="85000"/>
                    <a:lumOff val="15000"/>
                  </a:schemeClr>
                </a:solidFill>
                <a:ea typeface="Calibri" panose="020F0502020204030204" pitchFamily="34" charset="0"/>
                <a:cs typeface="Calibri Light" panose="020F0302020204030204" pitchFamily="34" charset="0"/>
              </a:rPr>
              <a:t>How to archive emails in Outlook Web Access</a:t>
            </a:r>
          </a:p>
        </p:txBody>
      </p:sp>
      <p:sp>
        <p:nvSpPr>
          <p:cNvPr id="12" name="Rectangle: Rounded Corners 11">
            <a:extLst>
              <a:ext uri="{FF2B5EF4-FFF2-40B4-BE49-F238E27FC236}">
                <a16:creationId xmlns:a16="http://schemas.microsoft.com/office/drawing/2014/main" id="{14E9859F-D167-4BA3-A92D-516584C24B59}"/>
              </a:ext>
            </a:extLst>
          </p:cNvPr>
          <p:cNvSpPr/>
          <p:nvPr/>
        </p:nvSpPr>
        <p:spPr>
          <a:xfrm>
            <a:off x="374686" y="4404784"/>
            <a:ext cx="2332559" cy="917776"/>
          </a:xfrm>
          <a:prstGeom prst="roundRect">
            <a:avLst>
              <a:gd name="adj" fmla="val 8216"/>
            </a:avLst>
          </a:prstGeom>
          <a:solidFill>
            <a:schemeClr val="accent5"/>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2478CE6-F3A5-40F4-9309-ABED9A76C67A}"/>
              </a:ext>
            </a:extLst>
          </p:cNvPr>
          <p:cNvSpPr/>
          <p:nvPr/>
        </p:nvSpPr>
        <p:spPr>
          <a:xfrm>
            <a:off x="368001" y="3161104"/>
            <a:ext cx="2332559" cy="820664"/>
          </a:xfrm>
          <a:prstGeom prst="roundRect">
            <a:avLst>
              <a:gd name="adj" fmla="val 8216"/>
            </a:avLst>
          </a:prstGeom>
          <a:solidFill>
            <a:schemeClr val="accent3">
              <a:lumMod val="50000"/>
            </a:schemeClr>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581A5CE-A6F0-4359-B16B-EDD5640FF3AF}"/>
              </a:ext>
            </a:extLst>
          </p:cNvPr>
          <p:cNvSpPr/>
          <p:nvPr/>
        </p:nvSpPr>
        <p:spPr>
          <a:xfrm>
            <a:off x="519013" y="2987058"/>
            <a:ext cx="309716" cy="309716"/>
          </a:xfrm>
          <a:prstGeom prst="ellipse">
            <a:avLst/>
          </a:prstGeom>
          <a:solidFill>
            <a:schemeClr val="accent3">
              <a:lumMod val="75000"/>
            </a:schemeClr>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1</a:t>
            </a:r>
            <a:endParaRPr lang="en-PH" sz="1000" b="1" dirty="0"/>
          </a:p>
        </p:txBody>
      </p:sp>
      <p:sp>
        <p:nvSpPr>
          <p:cNvPr id="15" name="Oval 14">
            <a:extLst>
              <a:ext uri="{FF2B5EF4-FFF2-40B4-BE49-F238E27FC236}">
                <a16:creationId xmlns:a16="http://schemas.microsoft.com/office/drawing/2014/main" id="{A69CE689-1174-44A2-87B6-ACA0591A4725}"/>
              </a:ext>
            </a:extLst>
          </p:cNvPr>
          <p:cNvSpPr/>
          <p:nvPr/>
        </p:nvSpPr>
        <p:spPr>
          <a:xfrm>
            <a:off x="519013" y="4243946"/>
            <a:ext cx="309716" cy="309716"/>
          </a:xfrm>
          <a:prstGeom prst="ellipse">
            <a:avLst/>
          </a:prstGeom>
          <a:solidFill>
            <a:schemeClr val="accent5">
              <a:lumMod val="60000"/>
              <a:lumOff val="40000"/>
            </a:schemeClr>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2</a:t>
            </a:r>
            <a:endParaRPr lang="en-PH" sz="1000" b="1" dirty="0"/>
          </a:p>
        </p:txBody>
      </p:sp>
      <p:sp>
        <p:nvSpPr>
          <p:cNvPr id="16" name="Rectangle: Rounded Corners 15">
            <a:extLst>
              <a:ext uri="{FF2B5EF4-FFF2-40B4-BE49-F238E27FC236}">
                <a16:creationId xmlns:a16="http://schemas.microsoft.com/office/drawing/2014/main" id="{B1B37CAF-E90A-4506-B34E-81D4D617EC91}"/>
              </a:ext>
            </a:extLst>
          </p:cNvPr>
          <p:cNvSpPr/>
          <p:nvPr/>
        </p:nvSpPr>
        <p:spPr>
          <a:xfrm>
            <a:off x="3180080" y="3162236"/>
            <a:ext cx="1341120" cy="1145604"/>
          </a:xfrm>
          <a:prstGeom prst="roundRect">
            <a:avLst>
              <a:gd name="adj" fmla="val 8216"/>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E49F7CC0-12FA-4215-8051-0685787B4745}"/>
              </a:ext>
            </a:extLst>
          </p:cNvPr>
          <p:cNvCxnSpPr>
            <a:cxnSpLocks/>
          </p:cNvCxnSpPr>
          <p:nvPr/>
        </p:nvCxnSpPr>
        <p:spPr>
          <a:xfrm flipH="1">
            <a:off x="2639600" y="3398210"/>
            <a:ext cx="540480" cy="0"/>
          </a:xfrm>
          <a:prstGeom prst="line">
            <a:avLst/>
          </a:prstGeom>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0F07ED6-BC3A-462B-A96A-D6B3C6765FE1}"/>
              </a:ext>
            </a:extLst>
          </p:cNvPr>
          <p:cNvSpPr/>
          <p:nvPr/>
        </p:nvSpPr>
        <p:spPr>
          <a:xfrm>
            <a:off x="423878" y="3317522"/>
            <a:ext cx="2283367" cy="485069"/>
          </a:xfrm>
          <a:prstGeom prst="rect">
            <a:avLst/>
          </a:prstGeom>
        </p:spPr>
        <p:txBody>
          <a:bodyPr wrap="square">
            <a:spAutoFit/>
          </a:bodyPr>
          <a:lstStyle/>
          <a:p>
            <a:pPr lvl="0">
              <a:lnSpc>
                <a:spcPct val="120000"/>
              </a:lnSpc>
              <a:spcAft>
                <a:spcPts val="1200"/>
              </a:spcAft>
            </a:pPr>
            <a:r>
              <a:rPr lang="en-US" sz="1100" dirty="0">
                <a:solidFill>
                  <a:schemeClr val="bg1"/>
                </a:solidFill>
                <a:ea typeface="Calibri" panose="020F0502020204030204" pitchFamily="34" charset="0"/>
                <a:cs typeface="Calibri Light" panose="020F0302020204030204" pitchFamily="34" charset="0"/>
              </a:rPr>
              <a:t>The archive mailbox will show up in this format by default in Outlook.</a:t>
            </a:r>
          </a:p>
        </p:txBody>
      </p:sp>
      <p:sp>
        <p:nvSpPr>
          <p:cNvPr id="21" name="Rectangle 20">
            <a:extLst>
              <a:ext uri="{FF2B5EF4-FFF2-40B4-BE49-F238E27FC236}">
                <a16:creationId xmlns:a16="http://schemas.microsoft.com/office/drawing/2014/main" id="{488F6B15-BB5D-4B7C-98E0-3A4A0F472379}"/>
              </a:ext>
            </a:extLst>
          </p:cNvPr>
          <p:cNvSpPr/>
          <p:nvPr/>
        </p:nvSpPr>
        <p:spPr>
          <a:xfrm>
            <a:off x="463986" y="4580913"/>
            <a:ext cx="2154301" cy="688202"/>
          </a:xfrm>
          <a:prstGeom prst="rect">
            <a:avLst/>
          </a:prstGeom>
        </p:spPr>
        <p:txBody>
          <a:bodyPr wrap="square">
            <a:spAutoFit/>
          </a:bodyPr>
          <a:lstStyle/>
          <a:p>
            <a:pPr lvl="0">
              <a:lnSpc>
                <a:spcPct val="120000"/>
              </a:lnSpc>
              <a:spcAft>
                <a:spcPts val="1200"/>
              </a:spcAft>
            </a:pPr>
            <a:r>
              <a:rPr lang="en-US" sz="1100" dirty="0">
                <a:solidFill>
                  <a:schemeClr val="bg1"/>
                </a:solidFill>
                <a:ea typeface="Calibri" panose="020F0502020204030204" pitchFamily="34" charset="0"/>
                <a:cs typeface="Calibri Light" panose="020F0302020204030204" pitchFamily="34" charset="0"/>
              </a:rPr>
              <a:t>To use the feature manually, you may drag and drop your emails from your Inbox to Online Archive.</a:t>
            </a:r>
          </a:p>
        </p:txBody>
      </p:sp>
    </p:spTree>
    <p:custDataLst>
      <p:tags r:id="rId1"/>
    </p:custDataLst>
    <p:extLst>
      <p:ext uri="{BB962C8B-B14F-4D97-AF65-F5344CB8AC3E}">
        <p14:creationId xmlns:p14="http://schemas.microsoft.com/office/powerpoint/2010/main" val="197668115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G34Dov6O"/>
  <p:tag name="ARTICULATE_SLIDE_THUMBNAIL_REFRESH" val="1"/>
  <p:tag name="AS_NET" val="4.0.30319.42000"/>
  <p:tag name="AS_OS" val="Microsoft Windows NT 10.0.14393.0"/>
  <p:tag name="AS_RELEASE_DATE" val="2018.12.12"/>
  <p:tag name="AS_TITLE" val="Aspose.Slides for .NET 4.0"/>
  <p:tag name="AS_VERSION" val="18.12"/>
  <p:tag name="ARTICULATE_PROJECT_OPEN" val="0"/>
  <p:tag name="ARTICULATE_SLIDE_COUNT" val="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cwen Colors">
      <a:dk1>
        <a:sysClr val="windowText" lastClr="000000"/>
      </a:dk1>
      <a:lt1>
        <a:sysClr val="window" lastClr="FFFFFF"/>
      </a:lt1>
      <a:dk2>
        <a:srgbClr val="44546A"/>
      </a:dk2>
      <a:lt2>
        <a:srgbClr val="B92772"/>
      </a:lt2>
      <a:accent1>
        <a:srgbClr val="003876"/>
      </a:accent1>
      <a:accent2>
        <a:srgbClr val="F15A24"/>
      </a:accent2>
      <a:accent3>
        <a:srgbClr val="1C93E8"/>
      </a:accent3>
      <a:accent4>
        <a:srgbClr val="666666"/>
      </a:accent4>
      <a:accent5>
        <a:srgbClr val="39B54A"/>
      </a:accent5>
      <a:accent6>
        <a:srgbClr val="EDB01F"/>
      </a:accent6>
      <a:hlink>
        <a:srgbClr val="003876"/>
      </a:hlink>
      <a:folHlink>
        <a:srgbClr val="4472C4"/>
      </a:folHlink>
    </a:clrScheme>
    <a:fontScheme name="Office Them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9327</TotalTime>
  <Words>427</Words>
  <Application>Microsoft Office PowerPoint</Application>
  <PresentationFormat>Letter Paper (8.5x11 in)</PresentationFormat>
  <Paragraphs>40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Archiving Emails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Earl</dc:creator>
  <cp:lastModifiedBy>Montelibano, Rachel A</cp:lastModifiedBy>
  <cp:revision>204</cp:revision>
  <dcterms:created xsi:type="dcterms:W3CDTF">2021-09-13T11:49:45Z</dcterms:created>
  <dcterms:modified xsi:type="dcterms:W3CDTF">2022-05-17T21:12:47Z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B30BDA60-6B4E-4514-9671-6C4861CE5469</vt:lpwstr>
  </property>
  <property fmtid="{D5CDD505-2E9C-101B-9397-08002B2CF9AE}" pid="3" name="ArticulatePath">
    <vt:lpwstr>Presentation1</vt:lpwstr>
  </property>
</Properties>
</file>